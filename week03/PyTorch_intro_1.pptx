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y="5143500" cx="9144000"/>
  <p:notesSz cx="6858000" cy="9144000"/>
  <p:embeddedFontLst>
    <p:embeddedFont>
      <p:font typeface="Roboto Mono"/>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E9EEF72-D502-4813-B94D-1CE7B2EC8909}">
  <a:tblStyle styleId="{3E9EEF72-D502-4813-B94D-1CE7B2EC890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RobotoMono-regular.fntdata"/><Relationship Id="rId47" Type="http://schemas.openxmlformats.org/officeDocument/2006/relationships/slide" Target="slides/slide41.xml"/><Relationship Id="rId49" Type="http://schemas.openxmlformats.org/officeDocument/2006/relationships/font" Target="fonts/RobotoMono-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obotoMono-boldItalic.fntdata"/><Relationship Id="rId50" Type="http://schemas.openxmlformats.org/officeDocument/2006/relationships/font" Target="fonts/RobotoMono-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40a0a4a549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40a0a4a549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409d25fb8f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409d25fb8f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409d25fb8f3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409d25fb8f3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409d25fb8f3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409d25fb8f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409d25fb8f3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409d25fb8f3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409d25fb8f3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409d25fb8f3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409d25fb8f3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409d25fb8f3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409d25fb8f3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409d25fb8f3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409d25fb8f3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409d25fb8f3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fb4190f40a_4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fb4190f40a_4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409d65fdab4_2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409d65fdab4_2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409d65fdab4_2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409d65fdab4_2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409d65fdab4_2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409d65fdab4_2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409d65fdab4_2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409d65fdab4_2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409d65fdab4_2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409d65fdab4_2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409d65fdab4_2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409d65fdab4_2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409d65fdab4_2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409d65fdab4_2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409d65fdab4_2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409d65fdab4_2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409d65fdab4_2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409d65fdab4_2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409d65fdab4_2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409d65fdab4_2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409d65fdab4_2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409d65fdab4_2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409d65fdab4_2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409d65fdab4_2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409d65fdab4_2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409d65fdab4_2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409d65fdab4_2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409d65fdab4_2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409d65fdab4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409d65fdab4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fb4190f40a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fb4190f40a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fb4190f40a_4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fb4190f40a_4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fb4190f40a_4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fb4190f40a_4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fb4190f40a_4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fb4190f40a_4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fb4190f40a_4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fb4190f40a_4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fb4190f40a_4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fb4190f40a_4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fb4190f40a_4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fb4190f40a_4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fb4190f40a_4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fb4190f40a_4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fb4190f40a_4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fb4190f40a_4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fb4190f40a_4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fb4190f40a_4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fb4190f40a_4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fb4190f40a_4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fb4190f40a_4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fb4190f40a_4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fb4190f40a_4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fb4190f40a_4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fb4190f40a_4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fb4190f40a_4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40a0a4a5497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40a0a4a549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github.com/pytorch/pytorch" TargetMode="Externa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blog.ezyang.com/2019/05/pytorch-internals/" TargetMode="Externa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blog.ezyang.com/2019/05/pytorch-internals/" TargetMode="Externa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s://blog.ezyang.com/2019/05/pytorch-internals/" TargetMode="Externa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blog.ezyang.com/2019/05/pytorch-internals/" TargetMode="Externa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s://blog.ezyang.com/2019/05/pytorch-internals/" TargetMode="Externa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blog.ezyang.com/2019/05/pytorch-internals/" TargetMode="Externa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s://docs.pytorch.org/docs/main/tensor_view.html" TargetMode="External"/><Relationship Id="rId4" Type="http://schemas.openxmlformats.org/officeDocument/2006/relationships/hyperlink" Target="https://blog.ezyang.com/2019/05/pytorch-internal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s://docs.pytorch.org/docs/main/tensor_view.html" TargetMode="External"/><Relationship Id="rId4" Type="http://schemas.openxmlformats.org/officeDocument/2006/relationships/hyperlink" Target="https://blog.ezyang.com/2019/05/pytorch-internals/"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hyperlink" Target="https://blog.ezyang.com/2019/05/pytorch-internals/" TargetMode="Externa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s://blog.ezyang.com/2019/05/pytorch-internals/" TargetMode="Externa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hyperlink" Target="https://blog.ezyang.com/2019/05/pytorch-internals/" TargetMode="External"/><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hyperlink" Target="https://blog.ezyang.com/2019/05/pytorch-internals/" TargetMode="Externa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hyperlink" Target="https://blog.ezyang.com/2019/05/pytorch-internals/" TargetMode="Externa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hyperlink" Target="https://cs231n.stanford.edu/slides/2016/winter1516_lecture4.pdf" TargetMode="External"/><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hyperlink" Target="https://cs231n.stanford.edu/slides/2016/winter1516_lecture4.pdf" TargetMode="External"/><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hyperlink" Target="https://cs231n.stanford.edu/slides/2016/winter1516_lecture4.pdf" TargetMode="External"/><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hyperlink" Target="https://cs231n.stanford.edu/slides/2016/winter1516_lecture4.pdf" TargetMode="External"/><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hyperlink" Target="https://cs231n.stanford.edu/slides/2016/winter1516_lecture4.pdf" TargetMode="External"/><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hyperlink" Target="https://cs231n.stanford.edu/slides/2016/winter1516_lecture4.pdf" TargetMode="External"/><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hyperlink" Target="https://cs231n.stanford.edu/slides/2016/winter1516_lecture4.pdf" TargetMode="External"/><Relationship Id="rId4"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hyperlink" Target="https://cs231n.stanford.edu/slides/2016/winter1516_lecture4.pdf" TargetMode="External"/><Relationship Id="rId4"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hyperlink" Target="https://cs231n.stanford.edu/slides/2016/winter1516_lecture4.pdf" TargetMode="External"/><Relationship Id="rId4"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hyperlink" Target="https://cs231n.stanford.edu/slides/2016/winter1516_lecture4.pdf" TargetMode="External"/><Relationship Id="rId4" Type="http://schemas.openxmlformats.org/officeDocument/2006/relationships/image" Target="../media/image2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hyperlink" Target="https://cs231n.stanford.edu/slides/2016/winter1516_lecture4.pdf" TargetMode="External"/><Relationship Id="rId4" Type="http://schemas.openxmlformats.org/officeDocument/2006/relationships/image" Target="../media/image2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hyperlink" Target="https://cs231n.stanford.edu/slides/2016/winter1516_lecture4.pdf" TargetMode="External"/><Relationship Id="rId4" Type="http://schemas.openxmlformats.org/officeDocument/2006/relationships/image" Target="../media/image2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hyperlink" Target="https://cs231n.stanford.edu/slides/2016/winter1516_lecture4.pdf" TargetMode="External"/><Relationship Id="rId4" Type="http://schemas.openxmlformats.org/officeDocument/2006/relationships/hyperlink" Target="https://app.diagrams.net/#G1bq3akhmA5DGRCiFYJfNPSn7il2wvCkEY#%7B%22pageId%22%3A%2257c2595e-38c7-5266-4078-3de699e93f9f%22%7D"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hyperlink" Target="https://coderun.yandex.ru/problem/coefficients-restoration"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1427400" y="2157450"/>
            <a:ext cx="6289200" cy="828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ru"/>
              <a:t>Введение в PyTorch</a:t>
            </a:r>
            <a:endParaRPr/>
          </a:p>
        </p:txBody>
      </p:sp>
      <p:sp>
        <p:nvSpPr>
          <p:cNvPr id="55" name="Google Shape;55;p13"/>
          <p:cNvSpPr txBox="1"/>
          <p:nvPr>
            <p:ph idx="1" type="subTitle"/>
          </p:nvPr>
        </p:nvSpPr>
        <p:spPr>
          <a:xfrm>
            <a:off x="6364425" y="4223525"/>
            <a:ext cx="2635200" cy="7926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ru"/>
              <a:t>Семинар 1</a:t>
            </a:r>
            <a:endParaRPr/>
          </a:p>
          <a:p>
            <a:pPr indent="0" lvl="0" marL="0" rtl="0" algn="l">
              <a:spcBef>
                <a:spcPts val="0"/>
              </a:spcBef>
              <a:spcAft>
                <a:spcPts val="0"/>
              </a:spcAft>
              <a:buNone/>
            </a:pPr>
            <a:r>
              <a:rPr lang="ru"/>
              <a:t>Сафонов Федор</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0525" y="686150"/>
            <a:ext cx="3159600" cy="8790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ru"/>
              <a:t>О себе</a:t>
            </a:r>
            <a:endParaRPr/>
          </a:p>
        </p:txBody>
      </p:sp>
      <p:sp>
        <p:nvSpPr>
          <p:cNvPr id="61" name="Google Shape;61;p14"/>
          <p:cNvSpPr txBox="1"/>
          <p:nvPr>
            <p:ph idx="1" type="subTitle"/>
          </p:nvPr>
        </p:nvSpPr>
        <p:spPr>
          <a:xfrm>
            <a:off x="356775" y="2077875"/>
            <a:ext cx="8520600" cy="1918800"/>
          </a:xfrm>
          <a:prstGeom prst="rect">
            <a:avLst/>
          </a:prstGeom>
        </p:spPr>
        <p:txBody>
          <a:bodyPr anchorCtr="0" anchor="t" bIns="91425" lIns="91425" spcFirstLastPara="1" rIns="91425" wrap="square" tIns="91425">
            <a:normAutofit fontScale="62500" lnSpcReduction="20000"/>
          </a:bodyPr>
          <a:lstStyle/>
          <a:p>
            <a:pPr indent="-339725" lvl="0" marL="457200" rtl="0" algn="l">
              <a:spcBef>
                <a:spcPts val="0"/>
              </a:spcBef>
              <a:spcAft>
                <a:spcPts val="0"/>
              </a:spcAft>
              <a:buSzPct val="100000"/>
              <a:buChar char="●"/>
            </a:pPr>
            <a:r>
              <a:rPr lang="ru"/>
              <a:t>Опыт:</a:t>
            </a:r>
            <a:endParaRPr/>
          </a:p>
          <a:p>
            <a:pPr indent="-339725" lvl="1" marL="914400" rtl="0" algn="l">
              <a:spcBef>
                <a:spcPts val="0"/>
              </a:spcBef>
              <a:spcAft>
                <a:spcPts val="0"/>
              </a:spcAft>
              <a:buSzPct val="100000"/>
              <a:buChar char="○"/>
            </a:pPr>
            <a:r>
              <a:rPr lang="ru"/>
              <a:t>3 года — Яндекс Поиск — ML разработчик</a:t>
            </a:r>
            <a:endParaRPr/>
          </a:p>
          <a:p>
            <a:pPr indent="-339725" lvl="1" marL="914400" rtl="0" algn="l">
              <a:spcBef>
                <a:spcPts val="0"/>
              </a:spcBef>
              <a:spcAft>
                <a:spcPts val="0"/>
              </a:spcAft>
              <a:buSzPct val="100000"/>
              <a:buChar char="○"/>
            </a:pPr>
            <a:r>
              <a:rPr lang="ru"/>
              <a:t>1 год   — Сбер GigaVision — VLM разработчик</a:t>
            </a:r>
            <a:endParaRPr/>
          </a:p>
          <a:p>
            <a:pPr indent="-339725" lvl="0" marL="457200" rtl="0" algn="l">
              <a:spcBef>
                <a:spcPts val="0"/>
              </a:spcBef>
              <a:spcAft>
                <a:spcPts val="0"/>
              </a:spcAft>
              <a:buSzPct val="100000"/>
              <a:buChar char="●"/>
            </a:pPr>
            <a:r>
              <a:rPr lang="ru"/>
              <a:t>Образование:</a:t>
            </a:r>
            <a:endParaRPr/>
          </a:p>
          <a:p>
            <a:pPr indent="-339725" lvl="1" marL="914400" rtl="0" algn="l">
              <a:spcBef>
                <a:spcPts val="0"/>
              </a:spcBef>
              <a:spcAft>
                <a:spcPts val="0"/>
              </a:spcAft>
              <a:buSzPct val="100000"/>
              <a:buChar char="○"/>
            </a:pPr>
            <a:r>
              <a:rPr lang="ru"/>
              <a:t>Бауманка</a:t>
            </a:r>
            <a:endParaRPr/>
          </a:p>
          <a:p>
            <a:pPr indent="-339725" lvl="1" marL="914400" rtl="0" algn="l">
              <a:spcBef>
                <a:spcPts val="0"/>
              </a:spcBef>
              <a:spcAft>
                <a:spcPts val="0"/>
              </a:spcAft>
              <a:buSzPct val="100000"/>
              <a:buChar char="○"/>
            </a:pPr>
            <a:r>
              <a:rPr lang="ru"/>
              <a:t>ШАД</a:t>
            </a:r>
            <a:endParaRPr/>
          </a:p>
          <a:p>
            <a:pPr indent="-339725" lvl="1" marL="914400" rtl="0" algn="l">
              <a:spcBef>
                <a:spcPts val="0"/>
              </a:spcBef>
              <a:spcAft>
                <a:spcPts val="0"/>
              </a:spcAft>
              <a:buSzPct val="100000"/>
              <a:buChar char="○"/>
            </a:pPr>
            <a:r>
              <a:rPr lang="ru"/>
              <a:t>Технопарк VK</a:t>
            </a:r>
            <a:endParaRPr/>
          </a:p>
          <a:p>
            <a:pPr indent="-339725" lvl="0" marL="457200" rtl="0" algn="l">
              <a:spcBef>
                <a:spcPts val="0"/>
              </a:spcBef>
              <a:spcAft>
                <a:spcPts val="0"/>
              </a:spcAft>
              <a:buSzPct val="100000"/>
              <a:buChar char="●"/>
            </a:pPr>
            <a:r>
              <a:rPr lang="ru"/>
              <a:t>Имя: Федор (можно на ты)</a:t>
            </a:r>
            <a:endParaRPr/>
          </a:p>
        </p:txBody>
      </p:sp>
      <p:pic>
        <p:nvPicPr>
          <p:cNvPr id="62" name="Google Shape;62;p14"/>
          <p:cNvPicPr preferRelativeResize="0"/>
          <p:nvPr/>
        </p:nvPicPr>
        <p:blipFill>
          <a:blip r:embed="rId3">
            <a:alphaModFix/>
          </a:blip>
          <a:stretch>
            <a:fillRect/>
          </a:stretch>
        </p:blipFill>
        <p:spPr>
          <a:xfrm rot="1549668">
            <a:off x="7027825" y="325526"/>
            <a:ext cx="1347950" cy="2411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ctrTitle"/>
          </p:nvPr>
        </p:nvSpPr>
        <p:spPr>
          <a:xfrm>
            <a:off x="311700" y="490375"/>
            <a:ext cx="8520600" cy="8982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ru"/>
              <a:t>План семинара</a:t>
            </a:r>
            <a:endParaRPr/>
          </a:p>
        </p:txBody>
      </p:sp>
      <p:sp>
        <p:nvSpPr>
          <p:cNvPr id="68" name="Google Shape;68;p15"/>
          <p:cNvSpPr txBox="1"/>
          <p:nvPr>
            <p:ph idx="1" type="subTitle"/>
          </p:nvPr>
        </p:nvSpPr>
        <p:spPr>
          <a:xfrm>
            <a:off x="369375" y="1954050"/>
            <a:ext cx="6096900" cy="2233200"/>
          </a:xfrm>
          <a:prstGeom prst="rect">
            <a:avLst/>
          </a:prstGeom>
        </p:spPr>
        <p:txBody>
          <a:bodyPr anchorCtr="0" anchor="t" bIns="91425" lIns="91425" spcFirstLastPara="1" rIns="91425" wrap="square" tIns="91425">
            <a:normAutofit fontScale="62500" lnSpcReduction="20000"/>
          </a:bodyPr>
          <a:lstStyle/>
          <a:p>
            <a:pPr indent="0" lvl="0" marL="0" rtl="0" algn="l">
              <a:lnSpc>
                <a:spcPct val="150000"/>
              </a:lnSpc>
              <a:spcBef>
                <a:spcPts val="0"/>
              </a:spcBef>
              <a:spcAft>
                <a:spcPts val="0"/>
              </a:spcAft>
              <a:buNone/>
            </a:pPr>
            <a:r>
              <a:rPr lang="ru"/>
              <a:t>План на семинар:</a:t>
            </a:r>
            <a:endParaRPr/>
          </a:p>
          <a:p>
            <a:pPr indent="-339725" lvl="0" marL="457200" rtl="0" algn="l">
              <a:lnSpc>
                <a:spcPct val="150000"/>
              </a:lnSpc>
              <a:spcBef>
                <a:spcPts val="0"/>
              </a:spcBef>
              <a:spcAft>
                <a:spcPts val="0"/>
              </a:spcAft>
              <a:buSzPct val="100000"/>
              <a:buChar char="●"/>
            </a:pPr>
            <a:r>
              <a:rPr lang="ru"/>
              <a:t>История PyTorch</a:t>
            </a:r>
            <a:endParaRPr/>
          </a:p>
          <a:p>
            <a:pPr indent="-339725" lvl="0" marL="457200" rtl="0" algn="l">
              <a:lnSpc>
                <a:spcPct val="150000"/>
              </a:lnSpc>
              <a:spcBef>
                <a:spcPts val="0"/>
              </a:spcBef>
              <a:spcAft>
                <a:spcPts val="0"/>
              </a:spcAft>
              <a:buSzPct val="100000"/>
              <a:buChar char="●"/>
            </a:pPr>
            <a:r>
              <a:rPr lang="ru"/>
              <a:t>Отличия от numpy</a:t>
            </a:r>
            <a:endParaRPr/>
          </a:p>
          <a:p>
            <a:pPr indent="-339725" lvl="0" marL="457200" rtl="0" algn="l">
              <a:lnSpc>
                <a:spcPct val="150000"/>
              </a:lnSpc>
              <a:spcBef>
                <a:spcPts val="0"/>
              </a:spcBef>
              <a:spcAft>
                <a:spcPts val="0"/>
              </a:spcAft>
              <a:buSzPct val="100000"/>
              <a:buChar char="●"/>
            </a:pPr>
            <a:r>
              <a:rPr lang="ru"/>
              <a:t>Tensor</a:t>
            </a:r>
            <a:endParaRPr/>
          </a:p>
          <a:p>
            <a:pPr indent="-339725" lvl="0" marL="457200" rtl="0" algn="l">
              <a:lnSpc>
                <a:spcPct val="150000"/>
              </a:lnSpc>
              <a:spcBef>
                <a:spcPts val="0"/>
              </a:spcBef>
              <a:spcAft>
                <a:spcPts val="0"/>
              </a:spcAft>
              <a:buSzPct val="100000"/>
              <a:buChar char="●"/>
            </a:pPr>
            <a:r>
              <a:rPr lang="ru"/>
              <a:t>Autograd</a:t>
            </a:r>
            <a:endParaRPr/>
          </a:p>
          <a:p>
            <a:pPr indent="-339725" lvl="0" marL="457200" rtl="0" algn="l">
              <a:lnSpc>
                <a:spcPct val="150000"/>
              </a:lnSpc>
              <a:spcBef>
                <a:spcPts val="0"/>
              </a:spcBef>
              <a:spcAft>
                <a:spcPts val="0"/>
              </a:spcAft>
              <a:buSzPct val="100000"/>
              <a:buChar char="●"/>
            </a:pPr>
            <a:r>
              <a:rPr lang="ru"/>
              <a:t>Практика</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ctrTitle"/>
          </p:nvPr>
        </p:nvSpPr>
        <p:spPr>
          <a:xfrm>
            <a:off x="311700" y="490375"/>
            <a:ext cx="8520600" cy="8982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ru"/>
              <a:t>План семинара</a:t>
            </a:r>
            <a:endParaRPr/>
          </a:p>
        </p:txBody>
      </p:sp>
      <p:sp>
        <p:nvSpPr>
          <p:cNvPr id="74" name="Google Shape;74;p16"/>
          <p:cNvSpPr txBox="1"/>
          <p:nvPr>
            <p:ph idx="1" type="subTitle"/>
          </p:nvPr>
        </p:nvSpPr>
        <p:spPr>
          <a:xfrm>
            <a:off x="369375" y="1954050"/>
            <a:ext cx="6096900" cy="2233200"/>
          </a:xfrm>
          <a:prstGeom prst="rect">
            <a:avLst/>
          </a:prstGeom>
        </p:spPr>
        <p:txBody>
          <a:bodyPr anchorCtr="0" anchor="t" bIns="91425" lIns="91425" spcFirstLastPara="1" rIns="91425" wrap="square" tIns="91425">
            <a:normAutofit fontScale="62500" lnSpcReduction="20000"/>
          </a:bodyPr>
          <a:lstStyle/>
          <a:p>
            <a:pPr indent="0" lvl="0" marL="0" rtl="0" algn="l">
              <a:lnSpc>
                <a:spcPct val="150000"/>
              </a:lnSpc>
              <a:spcBef>
                <a:spcPts val="0"/>
              </a:spcBef>
              <a:spcAft>
                <a:spcPts val="0"/>
              </a:spcAft>
              <a:buNone/>
            </a:pPr>
            <a:r>
              <a:rPr lang="ru"/>
              <a:t>План на семинар:</a:t>
            </a:r>
            <a:endParaRPr/>
          </a:p>
          <a:p>
            <a:pPr indent="-339725" lvl="0" marL="457200" rtl="0" algn="l">
              <a:lnSpc>
                <a:spcPct val="150000"/>
              </a:lnSpc>
              <a:spcBef>
                <a:spcPts val="0"/>
              </a:spcBef>
              <a:spcAft>
                <a:spcPts val="0"/>
              </a:spcAft>
              <a:buSzPct val="100000"/>
              <a:buChar char="●"/>
            </a:pPr>
            <a:r>
              <a:rPr b="1" lang="ru"/>
              <a:t>История PyTorch</a:t>
            </a:r>
            <a:endParaRPr b="1"/>
          </a:p>
          <a:p>
            <a:pPr indent="-339725" lvl="0" marL="457200" rtl="0" algn="l">
              <a:lnSpc>
                <a:spcPct val="150000"/>
              </a:lnSpc>
              <a:spcBef>
                <a:spcPts val="0"/>
              </a:spcBef>
              <a:spcAft>
                <a:spcPts val="0"/>
              </a:spcAft>
              <a:buSzPct val="100000"/>
              <a:buChar char="●"/>
            </a:pPr>
            <a:r>
              <a:rPr lang="ru"/>
              <a:t>Отличия от numpy</a:t>
            </a:r>
            <a:endParaRPr/>
          </a:p>
          <a:p>
            <a:pPr indent="-339725" lvl="0" marL="457200" rtl="0" algn="l">
              <a:lnSpc>
                <a:spcPct val="150000"/>
              </a:lnSpc>
              <a:spcBef>
                <a:spcPts val="0"/>
              </a:spcBef>
              <a:spcAft>
                <a:spcPts val="0"/>
              </a:spcAft>
              <a:buSzPct val="100000"/>
              <a:buChar char="●"/>
            </a:pPr>
            <a:r>
              <a:rPr lang="ru"/>
              <a:t>Tensor</a:t>
            </a:r>
            <a:endParaRPr/>
          </a:p>
          <a:p>
            <a:pPr indent="-339725" lvl="0" marL="457200" rtl="0" algn="l">
              <a:lnSpc>
                <a:spcPct val="150000"/>
              </a:lnSpc>
              <a:spcBef>
                <a:spcPts val="0"/>
              </a:spcBef>
              <a:spcAft>
                <a:spcPts val="0"/>
              </a:spcAft>
              <a:buSzPct val="100000"/>
              <a:buChar char="●"/>
            </a:pPr>
            <a:r>
              <a:rPr lang="ru"/>
              <a:t>Autograd</a:t>
            </a:r>
            <a:endParaRPr/>
          </a:p>
          <a:p>
            <a:pPr indent="-339725" lvl="0" marL="457200" rtl="0" algn="l">
              <a:lnSpc>
                <a:spcPct val="150000"/>
              </a:lnSpc>
              <a:spcBef>
                <a:spcPts val="0"/>
              </a:spcBef>
              <a:spcAft>
                <a:spcPts val="0"/>
              </a:spcAft>
              <a:buSzPct val="100000"/>
              <a:buChar char="●"/>
            </a:pPr>
            <a:r>
              <a:rPr lang="ru"/>
              <a:t>Практика</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ctrTitle"/>
          </p:nvPr>
        </p:nvSpPr>
        <p:spPr>
          <a:xfrm>
            <a:off x="311700" y="490375"/>
            <a:ext cx="8520600" cy="8982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ru"/>
              <a:t>История PyTorch</a:t>
            </a:r>
            <a:endParaRPr/>
          </a:p>
        </p:txBody>
      </p:sp>
      <p:sp>
        <p:nvSpPr>
          <p:cNvPr id="80" name="Google Shape;80;p17"/>
          <p:cNvSpPr txBox="1"/>
          <p:nvPr>
            <p:ph idx="1" type="subTitle"/>
          </p:nvPr>
        </p:nvSpPr>
        <p:spPr>
          <a:xfrm>
            <a:off x="369375" y="1954050"/>
            <a:ext cx="6096900" cy="2233200"/>
          </a:xfrm>
          <a:prstGeom prst="rect">
            <a:avLst/>
          </a:prstGeom>
        </p:spPr>
        <p:txBody>
          <a:bodyPr anchorCtr="0" anchor="t" bIns="91425" lIns="91425" spcFirstLastPara="1" rIns="91425" wrap="square" tIns="91425">
            <a:normAutofit/>
          </a:bodyPr>
          <a:lstStyle/>
          <a:p>
            <a:pPr indent="-298450" lvl="0" marL="457200" rtl="0" algn="l">
              <a:lnSpc>
                <a:spcPct val="150000"/>
              </a:lnSpc>
              <a:spcBef>
                <a:spcPts val="0"/>
              </a:spcBef>
              <a:spcAft>
                <a:spcPts val="0"/>
              </a:spcAft>
              <a:buClr>
                <a:schemeClr val="dk1"/>
              </a:buClr>
              <a:buSzPts val="1100"/>
              <a:buChar char="●"/>
            </a:pPr>
            <a:r>
              <a:rPr b="1" lang="ru" sz="1100">
                <a:solidFill>
                  <a:schemeClr val="dk1"/>
                </a:solidFill>
              </a:rPr>
              <a:t>2002</a:t>
            </a:r>
            <a:r>
              <a:rPr lang="ru" sz="1100">
                <a:solidFill>
                  <a:schemeClr val="dk1"/>
                </a:solidFill>
              </a:rPr>
              <a:t> — появляется </a:t>
            </a:r>
            <a:r>
              <a:rPr b="1" lang="ru" sz="1100">
                <a:solidFill>
                  <a:schemeClr val="dk1"/>
                </a:solidFill>
              </a:rPr>
              <a:t>Torch</a:t>
            </a:r>
            <a:r>
              <a:rPr lang="ru" sz="1100">
                <a:solidFill>
                  <a:schemeClr val="dk1"/>
                </a:solidFill>
              </a:rPr>
              <a:t>, ранняя ML-библиотека на C/C++.</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b="1" lang="ru" sz="1100">
                <a:solidFill>
                  <a:schemeClr val="dk1"/>
                </a:solidFill>
              </a:rPr>
              <a:t>2011</a:t>
            </a:r>
            <a:r>
              <a:rPr lang="ru" sz="1100">
                <a:solidFill>
                  <a:schemeClr val="dk1"/>
                </a:solidFill>
              </a:rPr>
              <a:t> — выходит </a:t>
            </a:r>
            <a:r>
              <a:rPr b="1" lang="ru" sz="1100">
                <a:solidFill>
                  <a:schemeClr val="dk1"/>
                </a:solidFill>
              </a:rPr>
              <a:t>Torch7</a:t>
            </a:r>
            <a:r>
              <a:rPr lang="ru" sz="1100">
                <a:solidFill>
                  <a:schemeClr val="dk1"/>
                </a:solidFill>
              </a:rPr>
              <a:t>, уже более известная версия на </a:t>
            </a:r>
            <a:r>
              <a:rPr b="1" lang="ru" sz="1100">
                <a:solidFill>
                  <a:schemeClr val="dk1"/>
                </a:solidFill>
              </a:rPr>
              <a:t>Lua</a:t>
            </a:r>
            <a:r>
              <a:rPr lang="ru" sz="1100">
                <a:solidFill>
                  <a:schemeClr val="dk1"/>
                </a:solidFill>
              </a:rPr>
              <a:t>, популярная среди исследователей deep learning.</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b="1" lang="ru" sz="1100">
                <a:solidFill>
                  <a:schemeClr val="dk1"/>
                </a:solidFill>
              </a:rPr>
              <a:t>2017</a:t>
            </a:r>
            <a:r>
              <a:rPr lang="ru" sz="1100">
                <a:solidFill>
                  <a:schemeClr val="dk1"/>
                </a:solidFill>
              </a:rPr>
              <a:t> — PyTorch становится публично доступным. Его быстро полюбили за динамический граф вычислений и удобную отладку.</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b="1" lang="ru" sz="1100">
                <a:solidFill>
                  <a:schemeClr val="dk1"/>
                </a:solidFill>
              </a:rPr>
              <a:t>2022</a:t>
            </a:r>
            <a:r>
              <a:rPr lang="ru" sz="1100">
                <a:solidFill>
                  <a:schemeClr val="dk1"/>
                </a:solidFill>
              </a:rPr>
              <a:t> — PyTorch переходит от Meta в независимую </a:t>
            </a:r>
            <a:r>
              <a:rPr b="1" lang="ru" sz="1100">
                <a:solidFill>
                  <a:schemeClr val="dk1"/>
                </a:solidFill>
              </a:rPr>
              <a:t>PyTorch Foundation</a:t>
            </a:r>
            <a:r>
              <a:rPr lang="ru" sz="1100">
                <a:solidFill>
                  <a:schemeClr val="dk1"/>
                </a:solidFill>
              </a:rPr>
              <a:t> внутри Linux Foundation.</a:t>
            </a:r>
            <a:endParaRPr sz="1100">
              <a:solidFill>
                <a:schemeClr val="dk1"/>
              </a:solidFill>
            </a:endParaRPr>
          </a:p>
        </p:txBody>
      </p:sp>
      <p:sp>
        <p:nvSpPr>
          <p:cNvPr id="81" name="Google Shape;81;p17"/>
          <p:cNvSpPr txBox="1"/>
          <p:nvPr/>
        </p:nvSpPr>
        <p:spPr>
          <a:xfrm>
            <a:off x="624975" y="3898925"/>
            <a:ext cx="82593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1100"/>
              <a:t>Б</a:t>
            </a:r>
            <a:r>
              <a:rPr lang="ru" sz="1100"/>
              <a:t>ольшим компаниям выгодно совместно финансировать нейтральную инфраструктуру для open-source проектов. Если Linux, Kubernetes или PyTorch важны для бизнеса многих компаний, дешевле и безопаснее поддерживать их через независимый фонд, чем отдавать контроль одной корпорации.</a:t>
            </a:r>
            <a:endParaRPr sz="1100"/>
          </a:p>
        </p:txBody>
      </p:sp>
      <p:pic>
        <p:nvPicPr>
          <p:cNvPr id="82" name="Google Shape;82;p17"/>
          <p:cNvPicPr preferRelativeResize="0"/>
          <p:nvPr/>
        </p:nvPicPr>
        <p:blipFill>
          <a:blip r:embed="rId3">
            <a:alphaModFix/>
          </a:blip>
          <a:stretch>
            <a:fillRect/>
          </a:stretch>
        </p:blipFill>
        <p:spPr>
          <a:xfrm>
            <a:off x="5888000" y="268650"/>
            <a:ext cx="2996275" cy="16853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ctrTitle"/>
          </p:nvPr>
        </p:nvSpPr>
        <p:spPr>
          <a:xfrm>
            <a:off x="311700" y="490375"/>
            <a:ext cx="8520600" cy="8982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ru"/>
              <a:t>История PyTorch</a:t>
            </a:r>
            <a:endParaRPr/>
          </a:p>
        </p:txBody>
      </p:sp>
      <p:sp>
        <p:nvSpPr>
          <p:cNvPr id="88" name="Google Shape;88;p18"/>
          <p:cNvSpPr txBox="1"/>
          <p:nvPr>
            <p:ph idx="1" type="subTitle"/>
          </p:nvPr>
        </p:nvSpPr>
        <p:spPr>
          <a:xfrm>
            <a:off x="369375" y="1954050"/>
            <a:ext cx="6096900" cy="22332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ru" sz="1100" u="sng">
                <a:solidFill>
                  <a:schemeClr val="hlink"/>
                </a:solidFill>
                <a:hlinkClick r:id="rId3"/>
              </a:rPr>
              <a:t>https://github.com/pytorch/pytorch</a:t>
            </a:r>
            <a:endParaRPr sz="1100">
              <a:solidFill>
                <a:schemeClr val="dk1"/>
              </a:solidFill>
            </a:endParaRPr>
          </a:p>
          <a:p>
            <a:pPr indent="0" lvl="0" marL="0" rtl="0" algn="l">
              <a:lnSpc>
                <a:spcPct val="150000"/>
              </a:lnSpc>
              <a:spcBef>
                <a:spcPts val="0"/>
              </a:spcBef>
              <a:spcAft>
                <a:spcPts val="0"/>
              </a:spcAft>
              <a:buNone/>
            </a:pPr>
            <a:r>
              <a:t/>
            </a:r>
            <a:endParaRPr sz="1100">
              <a:solidFill>
                <a:schemeClr val="dk1"/>
              </a:solidFill>
            </a:endParaRPr>
          </a:p>
        </p:txBody>
      </p:sp>
      <p:pic>
        <p:nvPicPr>
          <p:cNvPr id="89" name="Google Shape;89;p18"/>
          <p:cNvPicPr preferRelativeResize="0"/>
          <p:nvPr/>
        </p:nvPicPr>
        <p:blipFill>
          <a:blip r:embed="rId4">
            <a:alphaModFix/>
          </a:blip>
          <a:stretch>
            <a:fillRect/>
          </a:stretch>
        </p:blipFill>
        <p:spPr>
          <a:xfrm>
            <a:off x="5888000" y="268650"/>
            <a:ext cx="2996275" cy="16853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ctrTitle"/>
          </p:nvPr>
        </p:nvSpPr>
        <p:spPr>
          <a:xfrm>
            <a:off x="311700" y="490375"/>
            <a:ext cx="8520600" cy="8982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ru"/>
              <a:t>План семинара</a:t>
            </a:r>
            <a:endParaRPr/>
          </a:p>
        </p:txBody>
      </p:sp>
      <p:sp>
        <p:nvSpPr>
          <p:cNvPr id="95" name="Google Shape;95;p19"/>
          <p:cNvSpPr txBox="1"/>
          <p:nvPr>
            <p:ph idx="1" type="subTitle"/>
          </p:nvPr>
        </p:nvSpPr>
        <p:spPr>
          <a:xfrm>
            <a:off x="369375" y="1954050"/>
            <a:ext cx="6096900" cy="2233200"/>
          </a:xfrm>
          <a:prstGeom prst="rect">
            <a:avLst/>
          </a:prstGeom>
        </p:spPr>
        <p:txBody>
          <a:bodyPr anchorCtr="0" anchor="t" bIns="91425" lIns="91425" spcFirstLastPara="1" rIns="91425" wrap="square" tIns="91425">
            <a:normAutofit fontScale="62500" lnSpcReduction="20000"/>
          </a:bodyPr>
          <a:lstStyle/>
          <a:p>
            <a:pPr indent="0" lvl="0" marL="0" rtl="0" algn="l">
              <a:lnSpc>
                <a:spcPct val="150000"/>
              </a:lnSpc>
              <a:spcBef>
                <a:spcPts val="0"/>
              </a:spcBef>
              <a:spcAft>
                <a:spcPts val="0"/>
              </a:spcAft>
              <a:buNone/>
            </a:pPr>
            <a:r>
              <a:rPr lang="ru"/>
              <a:t>План на семинар:</a:t>
            </a:r>
            <a:endParaRPr/>
          </a:p>
          <a:p>
            <a:pPr indent="-339725" lvl="0" marL="457200" rtl="0" algn="l">
              <a:lnSpc>
                <a:spcPct val="150000"/>
              </a:lnSpc>
              <a:spcBef>
                <a:spcPts val="0"/>
              </a:spcBef>
              <a:spcAft>
                <a:spcPts val="0"/>
              </a:spcAft>
              <a:buSzPct val="100000"/>
              <a:buChar char="●"/>
            </a:pPr>
            <a:r>
              <a:rPr lang="ru"/>
              <a:t>История PyTorch</a:t>
            </a:r>
            <a:endParaRPr/>
          </a:p>
          <a:p>
            <a:pPr indent="-339725" lvl="0" marL="457200" rtl="0" algn="l">
              <a:lnSpc>
                <a:spcPct val="150000"/>
              </a:lnSpc>
              <a:spcBef>
                <a:spcPts val="0"/>
              </a:spcBef>
              <a:spcAft>
                <a:spcPts val="0"/>
              </a:spcAft>
              <a:buSzPct val="100000"/>
              <a:buChar char="●"/>
            </a:pPr>
            <a:r>
              <a:rPr b="1" lang="ru"/>
              <a:t>Отличия от numpy</a:t>
            </a:r>
            <a:endParaRPr b="1"/>
          </a:p>
          <a:p>
            <a:pPr indent="-339725" lvl="0" marL="457200" rtl="0" algn="l">
              <a:lnSpc>
                <a:spcPct val="150000"/>
              </a:lnSpc>
              <a:spcBef>
                <a:spcPts val="0"/>
              </a:spcBef>
              <a:spcAft>
                <a:spcPts val="0"/>
              </a:spcAft>
              <a:buSzPct val="100000"/>
              <a:buChar char="●"/>
            </a:pPr>
            <a:r>
              <a:rPr lang="ru"/>
              <a:t>Tensor</a:t>
            </a:r>
            <a:endParaRPr/>
          </a:p>
          <a:p>
            <a:pPr indent="-339725" lvl="0" marL="457200" rtl="0" algn="l">
              <a:lnSpc>
                <a:spcPct val="150000"/>
              </a:lnSpc>
              <a:spcBef>
                <a:spcPts val="0"/>
              </a:spcBef>
              <a:spcAft>
                <a:spcPts val="0"/>
              </a:spcAft>
              <a:buSzPct val="100000"/>
              <a:buChar char="●"/>
            </a:pPr>
            <a:r>
              <a:rPr lang="ru"/>
              <a:t>Autograd</a:t>
            </a:r>
            <a:endParaRPr/>
          </a:p>
          <a:p>
            <a:pPr indent="-339725" lvl="0" marL="457200" rtl="0" algn="l">
              <a:lnSpc>
                <a:spcPct val="150000"/>
              </a:lnSpc>
              <a:spcBef>
                <a:spcPts val="0"/>
              </a:spcBef>
              <a:spcAft>
                <a:spcPts val="0"/>
              </a:spcAft>
              <a:buSzPct val="100000"/>
              <a:buChar char="●"/>
            </a:pPr>
            <a:r>
              <a:rPr lang="ru"/>
              <a:t>Практика</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01" name="Google Shape;101;p2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02" name="Google Shape;102;p20"/>
          <p:cNvPicPr preferRelativeResize="0"/>
          <p:nvPr/>
        </p:nvPicPr>
        <p:blipFill>
          <a:blip r:embed="rId3">
            <a:alphaModFix/>
          </a:blip>
          <a:stretch>
            <a:fillRect/>
          </a:stretch>
        </p:blipFill>
        <p:spPr>
          <a:xfrm>
            <a:off x="2429" y="0"/>
            <a:ext cx="9139139" cy="51434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ctrTitle"/>
          </p:nvPr>
        </p:nvSpPr>
        <p:spPr>
          <a:xfrm>
            <a:off x="311700" y="490375"/>
            <a:ext cx="8520600" cy="8982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ru"/>
              <a:t>Отличия от numpy</a:t>
            </a:r>
            <a:endParaRPr/>
          </a:p>
        </p:txBody>
      </p:sp>
      <p:pic>
        <p:nvPicPr>
          <p:cNvPr id="108" name="Google Shape;108;p21"/>
          <p:cNvPicPr preferRelativeResize="0"/>
          <p:nvPr/>
        </p:nvPicPr>
        <p:blipFill>
          <a:blip r:embed="rId3">
            <a:alphaModFix/>
          </a:blip>
          <a:stretch>
            <a:fillRect/>
          </a:stretch>
        </p:blipFill>
        <p:spPr>
          <a:xfrm>
            <a:off x="5672924" y="448600"/>
            <a:ext cx="1988726" cy="1118650"/>
          </a:xfrm>
          <a:prstGeom prst="rect">
            <a:avLst/>
          </a:prstGeom>
          <a:noFill/>
          <a:ln>
            <a:noFill/>
          </a:ln>
        </p:spPr>
      </p:pic>
      <p:pic>
        <p:nvPicPr>
          <p:cNvPr id="109" name="Google Shape;109;p21"/>
          <p:cNvPicPr preferRelativeResize="0"/>
          <p:nvPr/>
        </p:nvPicPr>
        <p:blipFill>
          <a:blip r:embed="rId4">
            <a:alphaModFix/>
          </a:blip>
          <a:stretch>
            <a:fillRect/>
          </a:stretch>
        </p:blipFill>
        <p:spPr>
          <a:xfrm>
            <a:off x="7869332" y="448600"/>
            <a:ext cx="1088117" cy="1088117"/>
          </a:xfrm>
          <a:prstGeom prst="rect">
            <a:avLst/>
          </a:prstGeom>
          <a:noFill/>
          <a:ln>
            <a:noFill/>
          </a:ln>
        </p:spPr>
      </p:pic>
      <p:sp>
        <p:nvSpPr>
          <p:cNvPr id="110" name="Google Shape;110;p21"/>
          <p:cNvSpPr txBox="1"/>
          <p:nvPr>
            <p:ph idx="1" type="subTitle"/>
          </p:nvPr>
        </p:nvSpPr>
        <p:spPr>
          <a:xfrm>
            <a:off x="7298375" y="885006"/>
            <a:ext cx="519600" cy="509400"/>
          </a:xfrm>
          <a:prstGeom prst="rect">
            <a:avLst/>
          </a:prstGeom>
        </p:spPr>
        <p:txBody>
          <a:bodyPr anchorCtr="0" anchor="t" bIns="73075" lIns="73075" spcFirstLastPara="1" rIns="73075" wrap="square" tIns="73075">
            <a:normAutofit fontScale="92500"/>
          </a:bodyPr>
          <a:lstStyle/>
          <a:p>
            <a:pPr indent="0" lvl="0" marL="0" rtl="0" algn="l">
              <a:lnSpc>
                <a:spcPct val="150000"/>
              </a:lnSpc>
              <a:spcBef>
                <a:spcPts val="0"/>
              </a:spcBef>
              <a:spcAft>
                <a:spcPts val="0"/>
              </a:spcAft>
              <a:buNone/>
            </a:pPr>
            <a:r>
              <a:rPr lang="ru" sz="2238"/>
              <a:t>VS</a:t>
            </a:r>
            <a:endParaRPr sz="2238"/>
          </a:p>
        </p:txBody>
      </p:sp>
      <p:sp>
        <p:nvSpPr>
          <p:cNvPr id="111" name="Google Shape;111;p21"/>
          <p:cNvSpPr txBox="1"/>
          <p:nvPr>
            <p:ph idx="1" type="subTitle"/>
          </p:nvPr>
        </p:nvSpPr>
        <p:spPr>
          <a:xfrm>
            <a:off x="464900" y="1567250"/>
            <a:ext cx="7893000" cy="8982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ru" sz="1100">
                <a:solidFill>
                  <a:schemeClr val="dk1"/>
                </a:solidFill>
              </a:rPr>
              <a:t>NumPy — это про массивы и численные вычисления. PyTorch — это “NumPy для обучения моделей”: массивы + GPU + автоматические градиенты + инструменты для нейросетей.</a:t>
            </a:r>
            <a:endParaRPr sz="1100">
              <a:solidFill>
                <a:schemeClr val="dk1"/>
              </a:solidFill>
            </a:endParaRPr>
          </a:p>
        </p:txBody>
      </p:sp>
      <p:graphicFrame>
        <p:nvGraphicFramePr>
          <p:cNvPr id="112" name="Google Shape;112;p21"/>
          <p:cNvGraphicFramePr/>
          <p:nvPr/>
        </p:nvGraphicFramePr>
        <p:xfrm>
          <a:off x="464900" y="2543700"/>
          <a:ext cx="3000000" cy="3000000"/>
        </p:xfrm>
        <a:graphic>
          <a:graphicData uri="http://schemas.openxmlformats.org/drawingml/2006/table">
            <a:tbl>
              <a:tblPr>
                <a:noFill/>
                <a:tableStyleId>{3E9EEF72-D502-4813-B94D-1CE7B2EC8909}</a:tableStyleId>
              </a:tblPr>
              <a:tblGrid>
                <a:gridCol w="3923675"/>
                <a:gridCol w="3969300"/>
              </a:tblGrid>
              <a:tr h="328800">
                <a:tc>
                  <a:txBody>
                    <a:bodyPr/>
                    <a:lstStyle/>
                    <a:p>
                      <a:pPr indent="0" lvl="0" marL="0" rtl="0" algn="ctr">
                        <a:lnSpc>
                          <a:spcPct val="115000"/>
                        </a:lnSpc>
                        <a:spcBef>
                          <a:spcPts val="0"/>
                        </a:spcBef>
                        <a:spcAft>
                          <a:spcPts val="0"/>
                        </a:spcAft>
                        <a:buNone/>
                      </a:pPr>
                      <a:r>
                        <a:rPr b="1" lang="ru" sz="1100"/>
                        <a:t>NumPy</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ru" sz="1100"/>
                        <a:t>PyTorch</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2025">
                <a:tc>
                  <a:txBody>
                    <a:bodyPr/>
                    <a:lstStyle/>
                    <a:p>
                      <a:pPr indent="0" lvl="0" marL="0" rtl="0" algn="l">
                        <a:spcBef>
                          <a:spcPts val="0"/>
                        </a:spcBef>
                        <a:spcAft>
                          <a:spcPts val="0"/>
                        </a:spcAft>
                        <a:buNone/>
                      </a:pPr>
                      <a:r>
                        <a:rPr lang="ru" sz="1100"/>
                        <a:t>Основной объект: </a:t>
                      </a:r>
                      <a:r>
                        <a:rPr lang="ru" sz="1100">
                          <a:solidFill>
                            <a:srgbClr val="188038"/>
                          </a:solidFill>
                        </a:rPr>
                        <a:t>ndarray</a:t>
                      </a:r>
                      <a:endParaRPr sz="1100">
                        <a:solidFill>
                          <a:srgbClr val="188038"/>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sz="1100"/>
                        <a:t>Основной объект: </a:t>
                      </a:r>
                      <a:r>
                        <a:rPr lang="ru" sz="1100">
                          <a:solidFill>
                            <a:srgbClr val="188038"/>
                          </a:solidFill>
                        </a:rPr>
                        <a:t>Tensor</a:t>
                      </a:r>
                      <a:endParaRPr sz="1100">
                        <a:solidFill>
                          <a:srgbClr val="188038"/>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5575">
                <a:tc>
                  <a:txBody>
                    <a:bodyPr/>
                    <a:lstStyle/>
                    <a:p>
                      <a:pPr indent="0" lvl="0" marL="0" rtl="0" algn="l">
                        <a:spcBef>
                          <a:spcPts val="0"/>
                        </a:spcBef>
                        <a:spcAft>
                          <a:spcPts val="0"/>
                        </a:spcAft>
                        <a:buNone/>
                      </a:pPr>
                      <a:r>
                        <a:rPr lang="ru" sz="1100"/>
                        <a:t>Вычисления</a:t>
                      </a:r>
                      <a:r>
                        <a:rPr lang="ru" sz="1100"/>
                        <a:t> CPU</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sz="1100"/>
                        <a:t>Вычисления на </a:t>
                      </a:r>
                      <a:r>
                        <a:rPr lang="ru" sz="1100"/>
                        <a:t>CPU или GPU: </a:t>
                      </a:r>
                      <a:r>
                        <a:rPr lang="ru" sz="1100">
                          <a:solidFill>
                            <a:srgbClr val="188038"/>
                          </a:solidFill>
                        </a:rPr>
                        <a:t>device="cuda"</a:t>
                      </a:r>
                      <a:r>
                        <a:rPr lang="ru" sz="1100"/>
                        <a:t> / </a:t>
                      </a:r>
                      <a:r>
                        <a:rPr lang="ru" sz="1100">
                          <a:solidFill>
                            <a:srgbClr val="188038"/>
                          </a:solidFill>
                        </a:rPr>
                        <a:t>"mps"</a:t>
                      </a:r>
                      <a:endParaRPr sz="1100">
                        <a:solidFill>
                          <a:srgbClr val="188038"/>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5575">
                <a:tc>
                  <a:txBody>
                    <a:bodyPr/>
                    <a:lstStyle/>
                    <a:p>
                      <a:pPr indent="0" lvl="0" marL="0" rtl="0" algn="l">
                        <a:spcBef>
                          <a:spcPts val="0"/>
                        </a:spcBef>
                        <a:spcAft>
                          <a:spcPts val="0"/>
                        </a:spcAft>
                        <a:buNone/>
                      </a:pPr>
                      <a:r>
                        <a:rPr lang="ru" sz="1100"/>
                        <a:t>Не считает градиенты сам</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sz="1100"/>
                        <a:t>Есть </a:t>
                      </a:r>
                      <a:r>
                        <a:rPr lang="ru" sz="1100">
                          <a:solidFill>
                            <a:srgbClr val="188038"/>
                          </a:solidFill>
                        </a:rPr>
                        <a:t>autograd</a:t>
                      </a:r>
                      <a:r>
                        <a:rPr lang="ru" sz="1100"/>
                        <a:t>: автоматический </a:t>
                      </a:r>
                      <a:r>
                        <a:rPr lang="ru" sz="1100">
                          <a:solidFill>
                            <a:srgbClr val="188038"/>
                          </a:solidFill>
                        </a:rPr>
                        <a:t>backward()</a:t>
                      </a:r>
                      <a:endParaRPr sz="1100">
                        <a:solidFill>
                          <a:srgbClr val="188038"/>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30125">
                <a:tc>
                  <a:txBody>
                    <a:bodyPr/>
                    <a:lstStyle/>
                    <a:p>
                      <a:pPr indent="0" lvl="0" marL="0" rtl="0" algn="l">
                        <a:spcBef>
                          <a:spcPts val="0"/>
                        </a:spcBef>
                        <a:spcAft>
                          <a:spcPts val="0"/>
                        </a:spcAft>
                        <a:buNone/>
                      </a:pPr>
                      <a:r>
                        <a:rPr lang="ru" sz="1100"/>
                        <a:t>Хорош для анализа данных, линейной алгебры, препроцессинга</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sz="1100"/>
                        <a:t>Хорош для обучения нейросетей и дифференцируемых моделей</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5575">
                <a:tc>
                  <a:txBody>
                    <a:bodyPr/>
                    <a:lstStyle/>
                    <a:p>
                      <a:pPr indent="0" lvl="0" marL="0" rtl="0" algn="l">
                        <a:spcBef>
                          <a:spcPts val="0"/>
                        </a:spcBef>
                        <a:spcAft>
                          <a:spcPts val="0"/>
                        </a:spcAft>
                        <a:buNone/>
                      </a:pPr>
                      <a:r>
                        <a:rPr lang="ru" sz="1100"/>
                        <a:t>Просто вычисляет результат</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sz="1100"/>
                        <a:t>Может помнить граф вычислений</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type="ctrTitle"/>
          </p:nvPr>
        </p:nvSpPr>
        <p:spPr>
          <a:xfrm>
            <a:off x="311700" y="490375"/>
            <a:ext cx="8520600" cy="8982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ru"/>
              <a:t>План семинара</a:t>
            </a:r>
            <a:endParaRPr/>
          </a:p>
        </p:txBody>
      </p:sp>
      <p:sp>
        <p:nvSpPr>
          <p:cNvPr id="118" name="Google Shape;118;p22"/>
          <p:cNvSpPr txBox="1"/>
          <p:nvPr>
            <p:ph idx="1" type="subTitle"/>
          </p:nvPr>
        </p:nvSpPr>
        <p:spPr>
          <a:xfrm>
            <a:off x="369375" y="1954050"/>
            <a:ext cx="6096900" cy="2233200"/>
          </a:xfrm>
          <a:prstGeom prst="rect">
            <a:avLst/>
          </a:prstGeom>
        </p:spPr>
        <p:txBody>
          <a:bodyPr anchorCtr="0" anchor="t" bIns="91425" lIns="91425" spcFirstLastPara="1" rIns="91425" wrap="square" tIns="91425">
            <a:normAutofit fontScale="62500" lnSpcReduction="20000"/>
          </a:bodyPr>
          <a:lstStyle/>
          <a:p>
            <a:pPr indent="0" lvl="0" marL="0" rtl="0" algn="l">
              <a:lnSpc>
                <a:spcPct val="150000"/>
              </a:lnSpc>
              <a:spcBef>
                <a:spcPts val="0"/>
              </a:spcBef>
              <a:spcAft>
                <a:spcPts val="0"/>
              </a:spcAft>
              <a:buNone/>
            </a:pPr>
            <a:r>
              <a:rPr lang="ru"/>
              <a:t>План на семинар:</a:t>
            </a:r>
            <a:endParaRPr/>
          </a:p>
          <a:p>
            <a:pPr indent="-339725" lvl="0" marL="457200" rtl="0" algn="l">
              <a:lnSpc>
                <a:spcPct val="150000"/>
              </a:lnSpc>
              <a:spcBef>
                <a:spcPts val="0"/>
              </a:spcBef>
              <a:spcAft>
                <a:spcPts val="0"/>
              </a:spcAft>
              <a:buSzPct val="100000"/>
              <a:buChar char="●"/>
            </a:pPr>
            <a:r>
              <a:rPr lang="ru"/>
              <a:t>История PyTorch</a:t>
            </a:r>
            <a:endParaRPr/>
          </a:p>
          <a:p>
            <a:pPr indent="-339725" lvl="0" marL="457200" rtl="0" algn="l">
              <a:lnSpc>
                <a:spcPct val="150000"/>
              </a:lnSpc>
              <a:spcBef>
                <a:spcPts val="0"/>
              </a:spcBef>
              <a:spcAft>
                <a:spcPts val="0"/>
              </a:spcAft>
              <a:buSzPct val="100000"/>
              <a:buChar char="●"/>
            </a:pPr>
            <a:r>
              <a:rPr lang="ru"/>
              <a:t>Отличия от numpy</a:t>
            </a:r>
            <a:endParaRPr/>
          </a:p>
          <a:p>
            <a:pPr indent="-339725" lvl="0" marL="457200" rtl="0" algn="l">
              <a:lnSpc>
                <a:spcPct val="150000"/>
              </a:lnSpc>
              <a:spcBef>
                <a:spcPts val="0"/>
              </a:spcBef>
              <a:spcAft>
                <a:spcPts val="0"/>
              </a:spcAft>
              <a:buSzPct val="100000"/>
              <a:buChar char="●"/>
            </a:pPr>
            <a:r>
              <a:rPr b="1" lang="ru"/>
              <a:t>Tensor</a:t>
            </a:r>
            <a:endParaRPr b="1"/>
          </a:p>
          <a:p>
            <a:pPr indent="-339725" lvl="0" marL="457200" rtl="0" algn="l">
              <a:lnSpc>
                <a:spcPct val="150000"/>
              </a:lnSpc>
              <a:spcBef>
                <a:spcPts val="0"/>
              </a:spcBef>
              <a:spcAft>
                <a:spcPts val="0"/>
              </a:spcAft>
              <a:buSzPct val="100000"/>
              <a:buChar char="●"/>
            </a:pPr>
            <a:r>
              <a:rPr lang="ru"/>
              <a:t>Autograd</a:t>
            </a:r>
            <a:endParaRPr/>
          </a:p>
          <a:p>
            <a:pPr indent="-339725" lvl="0" marL="457200" rtl="0" algn="l">
              <a:lnSpc>
                <a:spcPct val="150000"/>
              </a:lnSpc>
              <a:spcBef>
                <a:spcPts val="0"/>
              </a:spcBef>
              <a:spcAft>
                <a:spcPts val="0"/>
              </a:spcAft>
              <a:buSzPct val="100000"/>
              <a:buChar char="●"/>
            </a:pPr>
            <a:r>
              <a:rPr lang="ru"/>
              <a:t>Практика</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p23"/>
          <p:cNvPicPr preferRelativeResize="0"/>
          <p:nvPr/>
        </p:nvPicPr>
        <p:blipFill>
          <a:blip r:embed="rId3">
            <a:alphaModFix/>
          </a:blip>
          <a:stretch>
            <a:fillRect/>
          </a:stretch>
        </p:blipFill>
        <p:spPr>
          <a:xfrm>
            <a:off x="0" y="0"/>
            <a:ext cx="9139127" cy="51434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ph type="ctrTitle"/>
          </p:nvPr>
        </p:nvSpPr>
        <p:spPr>
          <a:xfrm>
            <a:off x="136950" y="243550"/>
            <a:ext cx="3653700" cy="906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ru"/>
              <a:t>Tensor</a:t>
            </a:r>
            <a:endParaRPr/>
          </a:p>
        </p:txBody>
      </p:sp>
      <p:sp>
        <p:nvSpPr>
          <p:cNvPr id="129" name="Google Shape;129;p24"/>
          <p:cNvSpPr txBox="1"/>
          <p:nvPr>
            <p:ph idx="1" type="subTitle"/>
          </p:nvPr>
        </p:nvSpPr>
        <p:spPr>
          <a:xfrm>
            <a:off x="403400" y="1203925"/>
            <a:ext cx="8139900" cy="64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ru" sz="1500">
                <a:solidFill>
                  <a:srgbClr val="444444"/>
                </a:solidFill>
                <a:highlight>
                  <a:schemeClr val="lt1"/>
                </a:highlight>
                <a:latin typeface="Georgia"/>
                <a:ea typeface="Georgia"/>
                <a:cs typeface="Georgia"/>
                <a:sym typeface="Georgia"/>
              </a:rPr>
              <a:t>The tensor is the central data structure in PyTorch</a:t>
            </a:r>
            <a:endParaRPr/>
          </a:p>
          <a:p>
            <a:pPr indent="0" lvl="0" marL="0" rtl="0" algn="l">
              <a:spcBef>
                <a:spcPts val="0"/>
              </a:spcBef>
              <a:spcAft>
                <a:spcPts val="0"/>
              </a:spcAft>
              <a:buNone/>
            </a:pPr>
            <a:r>
              <a:t/>
            </a:r>
            <a:endParaRPr sz="1500">
              <a:solidFill>
                <a:srgbClr val="444444"/>
              </a:solidFill>
              <a:highlight>
                <a:srgbClr val="FFFFFF"/>
              </a:highlight>
              <a:latin typeface="Georgia"/>
              <a:ea typeface="Georgia"/>
              <a:cs typeface="Georgia"/>
              <a:sym typeface="Georgia"/>
            </a:endParaRPr>
          </a:p>
        </p:txBody>
      </p:sp>
      <p:sp>
        <p:nvSpPr>
          <p:cNvPr id="130" name="Google Shape;130;p24"/>
          <p:cNvSpPr txBox="1"/>
          <p:nvPr>
            <p:ph idx="1" type="subTitle"/>
          </p:nvPr>
        </p:nvSpPr>
        <p:spPr>
          <a:xfrm>
            <a:off x="3858050" y="4559350"/>
            <a:ext cx="5198100" cy="471900"/>
          </a:xfrm>
          <a:prstGeom prst="rect">
            <a:avLst/>
          </a:prstGeom>
        </p:spPr>
        <p:txBody>
          <a:bodyPr anchorCtr="0" anchor="t" bIns="91425" lIns="91425" spcFirstLastPara="1" rIns="91425" wrap="square" tIns="91425">
            <a:normAutofit fontScale="77500" lnSpcReduction="20000"/>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source: </a:t>
            </a:r>
            <a:r>
              <a:rPr lang="ru" sz="1500" u="sng">
                <a:solidFill>
                  <a:schemeClr val="hlink"/>
                </a:solidFill>
                <a:highlight>
                  <a:srgbClr val="FFFFFF"/>
                </a:highlight>
                <a:latin typeface="Georgia"/>
                <a:ea typeface="Georgia"/>
                <a:cs typeface="Georgia"/>
                <a:sym typeface="Georgia"/>
                <a:hlinkClick r:id="rId3"/>
              </a:rPr>
              <a:t>https://blog.ezyang.com/2019/05/pytorch-internals/</a:t>
            </a:r>
            <a:endParaRPr sz="1500">
              <a:solidFill>
                <a:srgbClr val="444444"/>
              </a:solidFill>
              <a:highlight>
                <a:srgbClr val="FFFFFF"/>
              </a:highlight>
              <a:latin typeface="Georgia"/>
              <a:ea typeface="Georgia"/>
              <a:cs typeface="Georgia"/>
              <a:sym typeface="Georgia"/>
            </a:endParaRPr>
          </a:p>
          <a:p>
            <a:pPr indent="0" lvl="0" marL="0" rtl="0" algn="ctr">
              <a:spcBef>
                <a:spcPts val="0"/>
              </a:spcBef>
              <a:spcAft>
                <a:spcPts val="0"/>
              </a:spcAft>
              <a:buNone/>
            </a:pPr>
            <a:r>
              <a:t/>
            </a:r>
            <a:endParaRPr sz="1500">
              <a:solidFill>
                <a:srgbClr val="444444"/>
              </a:solidFill>
              <a:highlight>
                <a:srgbClr val="FFFFFF"/>
              </a:highlight>
              <a:latin typeface="Georgia"/>
              <a:ea typeface="Georgia"/>
              <a:cs typeface="Georgia"/>
              <a:sym typeface="Georgia"/>
            </a:endParaRPr>
          </a:p>
        </p:txBody>
      </p:sp>
      <p:pic>
        <p:nvPicPr>
          <p:cNvPr id="131" name="Google Shape;131;p24"/>
          <p:cNvPicPr preferRelativeResize="0"/>
          <p:nvPr/>
        </p:nvPicPr>
        <p:blipFill>
          <a:blip r:embed="rId4">
            <a:alphaModFix/>
          </a:blip>
          <a:stretch>
            <a:fillRect/>
          </a:stretch>
        </p:blipFill>
        <p:spPr>
          <a:xfrm>
            <a:off x="2464475" y="1767400"/>
            <a:ext cx="3793376" cy="28450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5"/>
          <p:cNvSpPr txBox="1"/>
          <p:nvPr>
            <p:ph type="ctrTitle"/>
          </p:nvPr>
        </p:nvSpPr>
        <p:spPr>
          <a:xfrm>
            <a:off x="136950" y="243550"/>
            <a:ext cx="3653700" cy="906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ru"/>
              <a:t>Tensor</a:t>
            </a:r>
            <a:endParaRPr/>
          </a:p>
        </p:txBody>
      </p:sp>
      <p:sp>
        <p:nvSpPr>
          <p:cNvPr id="137" name="Google Shape;137;p25"/>
          <p:cNvSpPr txBox="1"/>
          <p:nvPr>
            <p:ph idx="1" type="subTitle"/>
          </p:nvPr>
        </p:nvSpPr>
        <p:spPr>
          <a:xfrm>
            <a:off x="403400" y="1203925"/>
            <a:ext cx="8139900" cy="6486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0"/>
              </a:spcAft>
              <a:buNone/>
            </a:pPr>
            <a:r>
              <a:rPr lang="ru" sz="1500">
                <a:solidFill>
                  <a:srgbClr val="444444"/>
                </a:solidFill>
                <a:highlight>
                  <a:srgbClr val="FFFFFF"/>
                </a:highlight>
                <a:latin typeface="Georgia"/>
                <a:ea typeface="Georgia"/>
                <a:cs typeface="Georgia"/>
                <a:sym typeface="Georgia"/>
              </a:rPr>
              <a:t>We can think of a tensor as consisting of some data, and then some metadata describing the size of the tensor, the type of the elements in contains (dtype), what device the tensor lives on (CPU memory? CUDA memory?)</a:t>
            </a:r>
            <a:endParaRPr/>
          </a:p>
        </p:txBody>
      </p:sp>
      <p:sp>
        <p:nvSpPr>
          <p:cNvPr id="138" name="Google Shape;138;p25"/>
          <p:cNvSpPr txBox="1"/>
          <p:nvPr>
            <p:ph idx="1" type="subTitle"/>
          </p:nvPr>
        </p:nvSpPr>
        <p:spPr>
          <a:xfrm>
            <a:off x="3858050" y="4559350"/>
            <a:ext cx="5198100" cy="471900"/>
          </a:xfrm>
          <a:prstGeom prst="rect">
            <a:avLst/>
          </a:prstGeom>
        </p:spPr>
        <p:txBody>
          <a:bodyPr anchorCtr="0" anchor="t" bIns="91425" lIns="91425" spcFirstLastPara="1" rIns="91425" wrap="square" tIns="91425">
            <a:normAutofit fontScale="77500" lnSpcReduction="20000"/>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source: </a:t>
            </a:r>
            <a:r>
              <a:rPr lang="ru" sz="1500" u="sng">
                <a:solidFill>
                  <a:schemeClr val="hlink"/>
                </a:solidFill>
                <a:highlight>
                  <a:srgbClr val="FFFFFF"/>
                </a:highlight>
                <a:latin typeface="Georgia"/>
                <a:ea typeface="Georgia"/>
                <a:cs typeface="Georgia"/>
                <a:sym typeface="Georgia"/>
                <a:hlinkClick r:id="rId3"/>
              </a:rPr>
              <a:t>https://blog.ezyang.com/2019/05/pytorch-internals/</a:t>
            </a:r>
            <a:endParaRPr sz="1500">
              <a:solidFill>
                <a:srgbClr val="444444"/>
              </a:solidFill>
              <a:highlight>
                <a:srgbClr val="FFFFFF"/>
              </a:highlight>
              <a:latin typeface="Georgia"/>
              <a:ea typeface="Georgia"/>
              <a:cs typeface="Georgia"/>
              <a:sym typeface="Georgia"/>
            </a:endParaRPr>
          </a:p>
          <a:p>
            <a:pPr indent="0" lvl="0" marL="0" rtl="0" algn="ctr">
              <a:spcBef>
                <a:spcPts val="0"/>
              </a:spcBef>
              <a:spcAft>
                <a:spcPts val="0"/>
              </a:spcAft>
              <a:buNone/>
            </a:pPr>
            <a:r>
              <a:t/>
            </a:r>
            <a:endParaRPr sz="1500">
              <a:solidFill>
                <a:srgbClr val="444444"/>
              </a:solidFill>
              <a:highlight>
                <a:srgbClr val="FFFFFF"/>
              </a:highlight>
              <a:latin typeface="Georgia"/>
              <a:ea typeface="Georgia"/>
              <a:cs typeface="Georgia"/>
              <a:sym typeface="Georgia"/>
            </a:endParaRPr>
          </a:p>
        </p:txBody>
      </p:sp>
      <p:pic>
        <p:nvPicPr>
          <p:cNvPr id="139" name="Google Shape;139;p25"/>
          <p:cNvPicPr preferRelativeResize="0"/>
          <p:nvPr/>
        </p:nvPicPr>
        <p:blipFill>
          <a:blip r:embed="rId4">
            <a:alphaModFix/>
          </a:blip>
          <a:stretch>
            <a:fillRect/>
          </a:stretch>
        </p:blipFill>
        <p:spPr>
          <a:xfrm>
            <a:off x="2464475" y="1767400"/>
            <a:ext cx="3793376" cy="28450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ph type="ctrTitle"/>
          </p:nvPr>
        </p:nvSpPr>
        <p:spPr>
          <a:xfrm>
            <a:off x="136950" y="243550"/>
            <a:ext cx="3653700" cy="906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ru"/>
              <a:t>Tensor</a:t>
            </a:r>
            <a:endParaRPr/>
          </a:p>
        </p:txBody>
      </p:sp>
      <p:sp>
        <p:nvSpPr>
          <p:cNvPr id="145" name="Google Shape;145;p26"/>
          <p:cNvSpPr txBox="1"/>
          <p:nvPr>
            <p:ph idx="1" type="subTitle"/>
          </p:nvPr>
        </p:nvSpPr>
        <p:spPr>
          <a:xfrm>
            <a:off x="413700" y="1165388"/>
            <a:ext cx="8139900" cy="64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1250">
                <a:latin typeface="Georgia"/>
                <a:ea typeface="Georgia"/>
                <a:cs typeface="Georgia"/>
                <a:sym typeface="Georgia"/>
              </a:rPr>
              <a:t>logical vs physical representation</a:t>
            </a:r>
            <a:endParaRPr sz="1250">
              <a:latin typeface="Georgia"/>
              <a:ea typeface="Georgia"/>
              <a:cs typeface="Georgia"/>
              <a:sym typeface="Georgia"/>
            </a:endParaRPr>
          </a:p>
        </p:txBody>
      </p:sp>
      <p:sp>
        <p:nvSpPr>
          <p:cNvPr id="146" name="Google Shape;146;p26"/>
          <p:cNvSpPr txBox="1"/>
          <p:nvPr>
            <p:ph idx="1" type="subTitle"/>
          </p:nvPr>
        </p:nvSpPr>
        <p:spPr>
          <a:xfrm>
            <a:off x="3858050" y="4559350"/>
            <a:ext cx="5198100" cy="471900"/>
          </a:xfrm>
          <a:prstGeom prst="rect">
            <a:avLst/>
          </a:prstGeom>
        </p:spPr>
        <p:txBody>
          <a:bodyPr anchorCtr="0" anchor="t" bIns="91425" lIns="91425" spcFirstLastPara="1" rIns="91425" wrap="square" tIns="91425">
            <a:normAutofit fontScale="77500" lnSpcReduction="20000"/>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source: </a:t>
            </a:r>
            <a:r>
              <a:rPr lang="ru" sz="1500" u="sng">
                <a:solidFill>
                  <a:schemeClr val="hlink"/>
                </a:solidFill>
                <a:highlight>
                  <a:srgbClr val="FFFFFF"/>
                </a:highlight>
                <a:latin typeface="Georgia"/>
                <a:ea typeface="Georgia"/>
                <a:cs typeface="Georgia"/>
                <a:sym typeface="Georgia"/>
                <a:hlinkClick r:id="rId3"/>
              </a:rPr>
              <a:t>https://blog.ezyang.com/2019/05/pytorch-internals/</a:t>
            </a:r>
            <a:endParaRPr sz="1500">
              <a:solidFill>
                <a:srgbClr val="444444"/>
              </a:solidFill>
              <a:highlight>
                <a:srgbClr val="FFFFFF"/>
              </a:highlight>
              <a:latin typeface="Georgia"/>
              <a:ea typeface="Georgia"/>
              <a:cs typeface="Georgia"/>
              <a:sym typeface="Georgia"/>
            </a:endParaRPr>
          </a:p>
          <a:p>
            <a:pPr indent="0" lvl="0" marL="0" rtl="0" algn="ctr">
              <a:spcBef>
                <a:spcPts val="0"/>
              </a:spcBef>
              <a:spcAft>
                <a:spcPts val="0"/>
              </a:spcAft>
              <a:buNone/>
            </a:pPr>
            <a:r>
              <a:t/>
            </a:r>
            <a:endParaRPr sz="1500">
              <a:solidFill>
                <a:srgbClr val="444444"/>
              </a:solidFill>
              <a:highlight>
                <a:srgbClr val="FFFFFF"/>
              </a:highlight>
              <a:latin typeface="Georgia"/>
              <a:ea typeface="Georgia"/>
              <a:cs typeface="Georgia"/>
              <a:sym typeface="Georgia"/>
            </a:endParaRPr>
          </a:p>
        </p:txBody>
      </p:sp>
      <p:pic>
        <p:nvPicPr>
          <p:cNvPr id="147" name="Google Shape;147;p26"/>
          <p:cNvPicPr preferRelativeResize="0"/>
          <p:nvPr/>
        </p:nvPicPr>
        <p:blipFill>
          <a:blip r:embed="rId4">
            <a:alphaModFix/>
          </a:blip>
          <a:stretch>
            <a:fillRect/>
          </a:stretch>
        </p:blipFill>
        <p:spPr>
          <a:xfrm>
            <a:off x="2406875" y="1490176"/>
            <a:ext cx="4005724" cy="30042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7"/>
          <p:cNvSpPr txBox="1"/>
          <p:nvPr>
            <p:ph type="ctrTitle"/>
          </p:nvPr>
        </p:nvSpPr>
        <p:spPr>
          <a:xfrm>
            <a:off x="136950" y="243550"/>
            <a:ext cx="3653700" cy="906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ru"/>
              <a:t>Tensor</a:t>
            </a:r>
            <a:endParaRPr/>
          </a:p>
        </p:txBody>
      </p:sp>
      <p:sp>
        <p:nvSpPr>
          <p:cNvPr id="153" name="Google Shape;153;p27"/>
          <p:cNvSpPr txBox="1"/>
          <p:nvPr>
            <p:ph idx="1" type="subTitle"/>
          </p:nvPr>
        </p:nvSpPr>
        <p:spPr>
          <a:xfrm>
            <a:off x="403400" y="1074925"/>
            <a:ext cx="8139900" cy="64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1250">
                <a:latin typeface="Georgia"/>
                <a:ea typeface="Georgia"/>
                <a:cs typeface="Georgia"/>
                <a:sym typeface="Georgia"/>
              </a:rPr>
              <a:t>How strides meta helps to get the elements from Tensor</a:t>
            </a:r>
            <a:endParaRPr sz="1250">
              <a:latin typeface="Georgia"/>
              <a:ea typeface="Georgia"/>
              <a:cs typeface="Georgia"/>
              <a:sym typeface="Georgia"/>
            </a:endParaRPr>
          </a:p>
        </p:txBody>
      </p:sp>
      <p:sp>
        <p:nvSpPr>
          <p:cNvPr id="154" name="Google Shape;154;p27"/>
          <p:cNvSpPr txBox="1"/>
          <p:nvPr>
            <p:ph idx="1" type="subTitle"/>
          </p:nvPr>
        </p:nvSpPr>
        <p:spPr>
          <a:xfrm>
            <a:off x="3858050" y="4559350"/>
            <a:ext cx="5198100" cy="471900"/>
          </a:xfrm>
          <a:prstGeom prst="rect">
            <a:avLst/>
          </a:prstGeom>
        </p:spPr>
        <p:txBody>
          <a:bodyPr anchorCtr="0" anchor="t" bIns="91425" lIns="91425" spcFirstLastPara="1" rIns="91425" wrap="square" tIns="91425">
            <a:normAutofit fontScale="77500" lnSpcReduction="20000"/>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source: </a:t>
            </a:r>
            <a:r>
              <a:rPr lang="ru" sz="1500" u="sng">
                <a:solidFill>
                  <a:schemeClr val="hlink"/>
                </a:solidFill>
                <a:highlight>
                  <a:srgbClr val="FFFFFF"/>
                </a:highlight>
                <a:latin typeface="Georgia"/>
                <a:ea typeface="Georgia"/>
                <a:cs typeface="Georgia"/>
                <a:sym typeface="Georgia"/>
                <a:hlinkClick r:id="rId3"/>
              </a:rPr>
              <a:t>https://blog.ezyang.com/2019/05/pytorch-internals/</a:t>
            </a:r>
            <a:endParaRPr sz="1500">
              <a:solidFill>
                <a:srgbClr val="444444"/>
              </a:solidFill>
              <a:highlight>
                <a:srgbClr val="FFFFFF"/>
              </a:highlight>
              <a:latin typeface="Georgia"/>
              <a:ea typeface="Georgia"/>
              <a:cs typeface="Georgia"/>
              <a:sym typeface="Georgia"/>
            </a:endParaRPr>
          </a:p>
          <a:p>
            <a:pPr indent="0" lvl="0" marL="0" rtl="0" algn="ctr">
              <a:spcBef>
                <a:spcPts val="0"/>
              </a:spcBef>
              <a:spcAft>
                <a:spcPts val="0"/>
              </a:spcAft>
              <a:buNone/>
            </a:pPr>
            <a:r>
              <a:t/>
            </a:r>
            <a:endParaRPr sz="1500">
              <a:solidFill>
                <a:srgbClr val="444444"/>
              </a:solidFill>
              <a:highlight>
                <a:srgbClr val="FFFFFF"/>
              </a:highlight>
              <a:latin typeface="Georgia"/>
              <a:ea typeface="Georgia"/>
              <a:cs typeface="Georgia"/>
              <a:sym typeface="Georgia"/>
            </a:endParaRPr>
          </a:p>
        </p:txBody>
      </p:sp>
      <p:pic>
        <p:nvPicPr>
          <p:cNvPr id="155" name="Google Shape;155;p27"/>
          <p:cNvPicPr preferRelativeResize="0"/>
          <p:nvPr/>
        </p:nvPicPr>
        <p:blipFill>
          <a:blip r:embed="rId4">
            <a:alphaModFix/>
          </a:blip>
          <a:stretch>
            <a:fillRect/>
          </a:stretch>
        </p:blipFill>
        <p:spPr>
          <a:xfrm>
            <a:off x="2406850" y="1487226"/>
            <a:ext cx="3968348" cy="29762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8"/>
          <p:cNvSpPr txBox="1"/>
          <p:nvPr>
            <p:ph type="ctrTitle"/>
          </p:nvPr>
        </p:nvSpPr>
        <p:spPr>
          <a:xfrm>
            <a:off x="136950" y="243550"/>
            <a:ext cx="3653700" cy="906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ru"/>
              <a:t>Tensor</a:t>
            </a:r>
            <a:endParaRPr/>
          </a:p>
        </p:txBody>
      </p:sp>
      <p:sp>
        <p:nvSpPr>
          <p:cNvPr id="161" name="Google Shape;161;p28"/>
          <p:cNvSpPr txBox="1"/>
          <p:nvPr>
            <p:ph idx="1" type="subTitle"/>
          </p:nvPr>
        </p:nvSpPr>
        <p:spPr>
          <a:xfrm>
            <a:off x="403400" y="1074925"/>
            <a:ext cx="8139900" cy="64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1250">
                <a:latin typeface="Georgia"/>
                <a:ea typeface="Georgia"/>
                <a:cs typeface="Georgia"/>
                <a:sym typeface="Georgia"/>
              </a:rPr>
              <a:t>How strides meta helps to get slices from Tensor</a:t>
            </a:r>
            <a:endParaRPr sz="1250">
              <a:latin typeface="Georgia"/>
              <a:ea typeface="Georgia"/>
              <a:cs typeface="Georgia"/>
              <a:sym typeface="Georgia"/>
            </a:endParaRPr>
          </a:p>
        </p:txBody>
      </p:sp>
      <p:sp>
        <p:nvSpPr>
          <p:cNvPr id="162" name="Google Shape;162;p28"/>
          <p:cNvSpPr txBox="1"/>
          <p:nvPr>
            <p:ph idx="1" type="subTitle"/>
          </p:nvPr>
        </p:nvSpPr>
        <p:spPr>
          <a:xfrm>
            <a:off x="3858050" y="4559350"/>
            <a:ext cx="5198100" cy="471900"/>
          </a:xfrm>
          <a:prstGeom prst="rect">
            <a:avLst/>
          </a:prstGeom>
        </p:spPr>
        <p:txBody>
          <a:bodyPr anchorCtr="0" anchor="t" bIns="91425" lIns="91425" spcFirstLastPara="1" rIns="91425" wrap="square" tIns="91425">
            <a:normAutofit fontScale="77500" lnSpcReduction="20000"/>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source: </a:t>
            </a:r>
            <a:r>
              <a:rPr lang="ru" sz="1500" u="sng">
                <a:solidFill>
                  <a:schemeClr val="hlink"/>
                </a:solidFill>
                <a:highlight>
                  <a:srgbClr val="FFFFFF"/>
                </a:highlight>
                <a:latin typeface="Georgia"/>
                <a:ea typeface="Georgia"/>
                <a:cs typeface="Georgia"/>
                <a:sym typeface="Georgia"/>
                <a:hlinkClick r:id="rId3"/>
              </a:rPr>
              <a:t>https://blog.ezyang.com/2019/05/pytorch-internals/</a:t>
            </a:r>
            <a:endParaRPr sz="1500">
              <a:solidFill>
                <a:srgbClr val="444444"/>
              </a:solidFill>
              <a:highlight>
                <a:srgbClr val="FFFFFF"/>
              </a:highlight>
              <a:latin typeface="Georgia"/>
              <a:ea typeface="Georgia"/>
              <a:cs typeface="Georgia"/>
              <a:sym typeface="Georgia"/>
            </a:endParaRPr>
          </a:p>
          <a:p>
            <a:pPr indent="0" lvl="0" marL="0" rtl="0" algn="ctr">
              <a:spcBef>
                <a:spcPts val="0"/>
              </a:spcBef>
              <a:spcAft>
                <a:spcPts val="0"/>
              </a:spcAft>
              <a:buNone/>
            </a:pPr>
            <a:r>
              <a:t/>
            </a:r>
            <a:endParaRPr sz="1500">
              <a:solidFill>
                <a:srgbClr val="444444"/>
              </a:solidFill>
              <a:highlight>
                <a:srgbClr val="FFFFFF"/>
              </a:highlight>
              <a:latin typeface="Georgia"/>
              <a:ea typeface="Georgia"/>
              <a:cs typeface="Georgia"/>
              <a:sym typeface="Georgia"/>
            </a:endParaRPr>
          </a:p>
        </p:txBody>
      </p:sp>
      <p:pic>
        <p:nvPicPr>
          <p:cNvPr id="163" name="Google Shape;163;p28"/>
          <p:cNvPicPr preferRelativeResize="0"/>
          <p:nvPr/>
        </p:nvPicPr>
        <p:blipFill>
          <a:blip r:embed="rId4">
            <a:alphaModFix/>
          </a:blip>
          <a:stretch>
            <a:fillRect/>
          </a:stretch>
        </p:blipFill>
        <p:spPr>
          <a:xfrm>
            <a:off x="2275100" y="1509075"/>
            <a:ext cx="3808826" cy="29307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9"/>
          <p:cNvSpPr txBox="1"/>
          <p:nvPr>
            <p:ph type="ctrTitle"/>
          </p:nvPr>
        </p:nvSpPr>
        <p:spPr>
          <a:xfrm>
            <a:off x="136950" y="243550"/>
            <a:ext cx="3653700" cy="906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ru"/>
              <a:t>Tensor</a:t>
            </a:r>
            <a:endParaRPr/>
          </a:p>
        </p:txBody>
      </p:sp>
      <p:sp>
        <p:nvSpPr>
          <p:cNvPr id="169" name="Google Shape;169;p29"/>
          <p:cNvSpPr txBox="1"/>
          <p:nvPr>
            <p:ph idx="1" type="subTitle"/>
          </p:nvPr>
        </p:nvSpPr>
        <p:spPr>
          <a:xfrm>
            <a:off x="403400" y="1074925"/>
            <a:ext cx="8139900" cy="64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1250">
                <a:latin typeface="Georgia"/>
                <a:ea typeface="Georgia"/>
                <a:cs typeface="Georgia"/>
                <a:sym typeface="Georgia"/>
              </a:rPr>
              <a:t>How strides meta helps to get slices from Tensor</a:t>
            </a:r>
            <a:endParaRPr sz="1250">
              <a:latin typeface="Georgia"/>
              <a:ea typeface="Georgia"/>
              <a:cs typeface="Georgia"/>
              <a:sym typeface="Georgia"/>
            </a:endParaRPr>
          </a:p>
        </p:txBody>
      </p:sp>
      <p:sp>
        <p:nvSpPr>
          <p:cNvPr id="170" name="Google Shape;170;p29"/>
          <p:cNvSpPr txBox="1"/>
          <p:nvPr>
            <p:ph idx="1" type="subTitle"/>
          </p:nvPr>
        </p:nvSpPr>
        <p:spPr>
          <a:xfrm>
            <a:off x="3858050" y="4559350"/>
            <a:ext cx="5198100" cy="471900"/>
          </a:xfrm>
          <a:prstGeom prst="rect">
            <a:avLst/>
          </a:prstGeom>
        </p:spPr>
        <p:txBody>
          <a:bodyPr anchorCtr="0" anchor="t" bIns="91425" lIns="91425" spcFirstLastPara="1" rIns="91425" wrap="square" tIns="91425">
            <a:normAutofit fontScale="77500" lnSpcReduction="20000"/>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source: </a:t>
            </a:r>
            <a:r>
              <a:rPr lang="ru" sz="1500" u="sng">
                <a:solidFill>
                  <a:schemeClr val="hlink"/>
                </a:solidFill>
                <a:highlight>
                  <a:srgbClr val="FFFFFF"/>
                </a:highlight>
                <a:latin typeface="Georgia"/>
                <a:ea typeface="Georgia"/>
                <a:cs typeface="Georgia"/>
                <a:sym typeface="Georgia"/>
                <a:hlinkClick r:id="rId3"/>
              </a:rPr>
              <a:t>https://blog.ezyang.com/2019/05/pytorch-internals/</a:t>
            </a:r>
            <a:endParaRPr sz="1500">
              <a:solidFill>
                <a:srgbClr val="444444"/>
              </a:solidFill>
              <a:highlight>
                <a:srgbClr val="FFFFFF"/>
              </a:highlight>
              <a:latin typeface="Georgia"/>
              <a:ea typeface="Georgia"/>
              <a:cs typeface="Georgia"/>
              <a:sym typeface="Georgia"/>
            </a:endParaRPr>
          </a:p>
          <a:p>
            <a:pPr indent="0" lvl="0" marL="0" rtl="0" algn="ctr">
              <a:spcBef>
                <a:spcPts val="0"/>
              </a:spcBef>
              <a:spcAft>
                <a:spcPts val="0"/>
              </a:spcAft>
              <a:buNone/>
            </a:pPr>
            <a:r>
              <a:t/>
            </a:r>
            <a:endParaRPr sz="1500">
              <a:solidFill>
                <a:srgbClr val="444444"/>
              </a:solidFill>
              <a:highlight>
                <a:srgbClr val="FFFFFF"/>
              </a:highlight>
              <a:latin typeface="Georgia"/>
              <a:ea typeface="Georgia"/>
              <a:cs typeface="Georgia"/>
              <a:sym typeface="Georgia"/>
            </a:endParaRPr>
          </a:p>
        </p:txBody>
      </p:sp>
      <p:pic>
        <p:nvPicPr>
          <p:cNvPr id="171" name="Google Shape;171;p29"/>
          <p:cNvPicPr preferRelativeResize="0"/>
          <p:nvPr/>
        </p:nvPicPr>
        <p:blipFill>
          <a:blip r:embed="rId4">
            <a:alphaModFix/>
          </a:blip>
          <a:stretch>
            <a:fillRect/>
          </a:stretch>
        </p:blipFill>
        <p:spPr>
          <a:xfrm>
            <a:off x="2489400" y="1535425"/>
            <a:ext cx="3876776" cy="29075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0"/>
          <p:cNvSpPr txBox="1"/>
          <p:nvPr>
            <p:ph type="ctrTitle"/>
          </p:nvPr>
        </p:nvSpPr>
        <p:spPr>
          <a:xfrm>
            <a:off x="136950" y="243550"/>
            <a:ext cx="3653700" cy="906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ru"/>
              <a:t>Tensor</a:t>
            </a:r>
            <a:endParaRPr/>
          </a:p>
        </p:txBody>
      </p:sp>
      <p:sp>
        <p:nvSpPr>
          <p:cNvPr id="177" name="Google Shape;177;p30"/>
          <p:cNvSpPr txBox="1"/>
          <p:nvPr>
            <p:ph idx="1" type="subTitle"/>
          </p:nvPr>
        </p:nvSpPr>
        <p:spPr>
          <a:xfrm>
            <a:off x="403400" y="1074925"/>
            <a:ext cx="8139900" cy="64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1250">
                <a:latin typeface="Georgia"/>
                <a:ea typeface="Georgia"/>
                <a:cs typeface="Georgia"/>
                <a:sym typeface="Georgia"/>
              </a:rPr>
              <a:t>Strides helps for all operations on Tensor views: </a:t>
            </a:r>
            <a:r>
              <a:rPr lang="ru" sz="1250" u="sng">
                <a:solidFill>
                  <a:schemeClr val="hlink"/>
                </a:solidFill>
                <a:latin typeface="Georgia"/>
                <a:ea typeface="Georgia"/>
                <a:cs typeface="Georgia"/>
                <a:sym typeface="Georgia"/>
                <a:hlinkClick r:id="rId3"/>
              </a:rPr>
              <a:t>https://docs.pytorch.org/docs/main/tensor_view.html</a:t>
            </a:r>
            <a:endParaRPr sz="1250">
              <a:latin typeface="Georgia"/>
              <a:ea typeface="Georgia"/>
              <a:cs typeface="Georgia"/>
              <a:sym typeface="Georgia"/>
            </a:endParaRPr>
          </a:p>
          <a:p>
            <a:pPr indent="0" lvl="0" marL="0" rtl="0" algn="l">
              <a:spcBef>
                <a:spcPts val="0"/>
              </a:spcBef>
              <a:spcAft>
                <a:spcPts val="0"/>
              </a:spcAft>
              <a:buNone/>
            </a:pPr>
            <a:r>
              <a:t/>
            </a:r>
            <a:endParaRPr sz="1250">
              <a:latin typeface="Georgia"/>
              <a:ea typeface="Georgia"/>
              <a:cs typeface="Georgia"/>
              <a:sym typeface="Georgia"/>
            </a:endParaRPr>
          </a:p>
        </p:txBody>
      </p:sp>
      <p:sp>
        <p:nvSpPr>
          <p:cNvPr id="178" name="Google Shape;178;p30"/>
          <p:cNvSpPr txBox="1"/>
          <p:nvPr>
            <p:ph idx="1" type="subTitle"/>
          </p:nvPr>
        </p:nvSpPr>
        <p:spPr>
          <a:xfrm>
            <a:off x="3858050" y="4559350"/>
            <a:ext cx="5198100" cy="471900"/>
          </a:xfrm>
          <a:prstGeom prst="rect">
            <a:avLst/>
          </a:prstGeom>
        </p:spPr>
        <p:txBody>
          <a:bodyPr anchorCtr="0" anchor="t" bIns="91425" lIns="91425" spcFirstLastPara="1" rIns="91425" wrap="square" tIns="91425">
            <a:normAutofit fontScale="77500" lnSpcReduction="20000"/>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source: </a:t>
            </a:r>
            <a:r>
              <a:rPr lang="ru" sz="1500" u="sng">
                <a:solidFill>
                  <a:schemeClr val="hlink"/>
                </a:solidFill>
                <a:highlight>
                  <a:srgbClr val="FFFFFF"/>
                </a:highlight>
                <a:latin typeface="Georgia"/>
                <a:ea typeface="Georgia"/>
                <a:cs typeface="Georgia"/>
                <a:sym typeface="Georgia"/>
                <a:hlinkClick r:id="rId4"/>
              </a:rPr>
              <a:t>https://blog.ezyang.com/2019/05/pytorch-internals/</a:t>
            </a:r>
            <a:endParaRPr sz="1500">
              <a:solidFill>
                <a:srgbClr val="444444"/>
              </a:solidFill>
              <a:highlight>
                <a:srgbClr val="FFFFFF"/>
              </a:highlight>
              <a:latin typeface="Georgia"/>
              <a:ea typeface="Georgia"/>
              <a:cs typeface="Georgia"/>
              <a:sym typeface="Georgia"/>
            </a:endParaRPr>
          </a:p>
          <a:p>
            <a:pPr indent="0" lvl="0" marL="0" rtl="0" algn="ctr">
              <a:spcBef>
                <a:spcPts val="0"/>
              </a:spcBef>
              <a:spcAft>
                <a:spcPts val="0"/>
              </a:spcAft>
              <a:buNone/>
            </a:pPr>
            <a:r>
              <a:t/>
            </a:r>
            <a:endParaRPr sz="1500">
              <a:solidFill>
                <a:srgbClr val="444444"/>
              </a:solidFill>
              <a:highlight>
                <a:srgbClr val="FFFFFF"/>
              </a:highlight>
              <a:latin typeface="Georgia"/>
              <a:ea typeface="Georgia"/>
              <a:cs typeface="Georgia"/>
              <a:sym typeface="Georgia"/>
            </a:endParaRPr>
          </a:p>
        </p:txBody>
      </p:sp>
      <p:sp>
        <p:nvSpPr>
          <p:cNvPr id="179" name="Google Shape;179;p30"/>
          <p:cNvSpPr txBox="1"/>
          <p:nvPr/>
        </p:nvSpPr>
        <p:spPr>
          <a:xfrm>
            <a:off x="585975" y="1903125"/>
            <a:ext cx="3000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a:t>x = torch.arange(12).reshape(3, 4)</a:t>
            </a:r>
            <a:endParaRPr/>
          </a:p>
          <a:p>
            <a:pPr indent="0" lvl="0" marL="0" rtl="0" algn="l">
              <a:spcBef>
                <a:spcPts val="0"/>
              </a:spcBef>
              <a:spcAft>
                <a:spcPts val="0"/>
              </a:spcAft>
              <a:buNone/>
            </a:pPr>
            <a:r>
              <a:rPr lang="ru"/>
              <a:t>y = x.T</a:t>
            </a:r>
            <a:endParaRPr/>
          </a:p>
          <a:p>
            <a:pPr indent="0" lvl="0" marL="0" rtl="0" algn="l">
              <a:spcBef>
                <a:spcPts val="0"/>
              </a:spcBef>
              <a:spcAft>
                <a:spcPts val="0"/>
              </a:spcAft>
              <a:buNone/>
            </a:pPr>
            <a:r>
              <a:t/>
            </a:r>
            <a:endParaRPr/>
          </a:p>
          <a:p>
            <a:pPr indent="0" lvl="0" marL="0" rtl="0" algn="l">
              <a:spcBef>
                <a:spcPts val="0"/>
              </a:spcBef>
              <a:spcAft>
                <a:spcPts val="0"/>
              </a:spcAft>
              <a:buNone/>
            </a:pPr>
            <a:r>
              <a:rPr lang="ru"/>
              <a:t>print(x.stride())  # (4, 1)</a:t>
            </a:r>
            <a:endParaRPr/>
          </a:p>
          <a:p>
            <a:pPr indent="0" lvl="0" marL="0" rtl="0" algn="l">
              <a:spcBef>
                <a:spcPts val="0"/>
              </a:spcBef>
              <a:spcAft>
                <a:spcPts val="0"/>
              </a:spcAft>
              <a:buNone/>
            </a:pPr>
            <a:r>
              <a:rPr lang="ru"/>
              <a:t>print(y.stride())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1"/>
          <p:cNvSpPr txBox="1"/>
          <p:nvPr>
            <p:ph type="ctrTitle"/>
          </p:nvPr>
        </p:nvSpPr>
        <p:spPr>
          <a:xfrm>
            <a:off x="136950" y="243550"/>
            <a:ext cx="3653700" cy="906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ru"/>
              <a:t>Tensor</a:t>
            </a:r>
            <a:endParaRPr/>
          </a:p>
        </p:txBody>
      </p:sp>
      <p:sp>
        <p:nvSpPr>
          <p:cNvPr id="185" name="Google Shape;185;p31"/>
          <p:cNvSpPr txBox="1"/>
          <p:nvPr>
            <p:ph idx="1" type="subTitle"/>
          </p:nvPr>
        </p:nvSpPr>
        <p:spPr>
          <a:xfrm>
            <a:off x="403400" y="1074925"/>
            <a:ext cx="8139900" cy="64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1250">
                <a:latin typeface="Georgia"/>
                <a:ea typeface="Georgia"/>
                <a:cs typeface="Georgia"/>
                <a:sym typeface="Georgia"/>
              </a:rPr>
              <a:t>Strides helps for all operations on Tensor views: </a:t>
            </a:r>
            <a:r>
              <a:rPr lang="ru" sz="1250" u="sng">
                <a:solidFill>
                  <a:schemeClr val="hlink"/>
                </a:solidFill>
                <a:latin typeface="Georgia"/>
                <a:ea typeface="Georgia"/>
                <a:cs typeface="Georgia"/>
                <a:sym typeface="Georgia"/>
                <a:hlinkClick r:id="rId3"/>
              </a:rPr>
              <a:t>https://docs.pytorch.org/docs/main/tensor_view.html</a:t>
            </a:r>
            <a:endParaRPr sz="1250">
              <a:latin typeface="Georgia"/>
              <a:ea typeface="Georgia"/>
              <a:cs typeface="Georgia"/>
              <a:sym typeface="Georgia"/>
            </a:endParaRPr>
          </a:p>
          <a:p>
            <a:pPr indent="0" lvl="0" marL="0" rtl="0" algn="l">
              <a:spcBef>
                <a:spcPts val="0"/>
              </a:spcBef>
              <a:spcAft>
                <a:spcPts val="0"/>
              </a:spcAft>
              <a:buNone/>
            </a:pPr>
            <a:r>
              <a:t/>
            </a:r>
            <a:endParaRPr sz="1250">
              <a:latin typeface="Georgia"/>
              <a:ea typeface="Georgia"/>
              <a:cs typeface="Georgia"/>
              <a:sym typeface="Georgia"/>
            </a:endParaRPr>
          </a:p>
        </p:txBody>
      </p:sp>
      <p:sp>
        <p:nvSpPr>
          <p:cNvPr id="186" name="Google Shape;186;p31"/>
          <p:cNvSpPr txBox="1"/>
          <p:nvPr>
            <p:ph idx="1" type="subTitle"/>
          </p:nvPr>
        </p:nvSpPr>
        <p:spPr>
          <a:xfrm>
            <a:off x="3858050" y="4559350"/>
            <a:ext cx="5198100" cy="471900"/>
          </a:xfrm>
          <a:prstGeom prst="rect">
            <a:avLst/>
          </a:prstGeom>
        </p:spPr>
        <p:txBody>
          <a:bodyPr anchorCtr="0" anchor="t" bIns="91425" lIns="91425" spcFirstLastPara="1" rIns="91425" wrap="square" tIns="91425">
            <a:normAutofit fontScale="77500" lnSpcReduction="20000"/>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source: </a:t>
            </a:r>
            <a:r>
              <a:rPr lang="ru" sz="1500" u="sng">
                <a:solidFill>
                  <a:schemeClr val="hlink"/>
                </a:solidFill>
                <a:highlight>
                  <a:srgbClr val="FFFFFF"/>
                </a:highlight>
                <a:latin typeface="Georgia"/>
                <a:ea typeface="Georgia"/>
                <a:cs typeface="Georgia"/>
                <a:sym typeface="Georgia"/>
                <a:hlinkClick r:id="rId4"/>
              </a:rPr>
              <a:t>https://blog.ezyang.com/2019/05/pytorch-internals/</a:t>
            </a:r>
            <a:endParaRPr sz="1500">
              <a:solidFill>
                <a:srgbClr val="444444"/>
              </a:solidFill>
              <a:highlight>
                <a:srgbClr val="FFFFFF"/>
              </a:highlight>
              <a:latin typeface="Georgia"/>
              <a:ea typeface="Georgia"/>
              <a:cs typeface="Georgia"/>
              <a:sym typeface="Georgia"/>
            </a:endParaRPr>
          </a:p>
          <a:p>
            <a:pPr indent="0" lvl="0" marL="0" rtl="0" algn="ctr">
              <a:spcBef>
                <a:spcPts val="0"/>
              </a:spcBef>
              <a:spcAft>
                <a:spcPts val="0"/>
              </a:spcAft>
              <a:buNone/>
            </a:pPr>
            <a:r>
              <a:t/>
            </a:r>
            <a:endParaRPr sz="1500">
              <a:solidFill>
                <a:srgbClr val="444444"/>
              </a:solidFill>
              <a:highlight>
                <a:srgbClr val="FFFFFF"/>
              </a:highlight>
              <a:latin typeface="Georgia"/>
              <a:ea typeface="Georgia"/>
              <a:cs typeface="Georgia"/>
              <a:sym typeface="Georgia"/>
            </a:endParaRPr>
          </a:p>
        </p:txBody>
      </p:sp>
      <p:sp>
        <p:nvSpPr>
          <p:cNvPr id="187" name="Google Shape;187;p31"/>
          <p:cNvSpPr txBox="1"/>
          <p:nvPr/>
        </p:nvSpPr>
        <p:spPr>
          <a:xfrm>
            <a:off x="585975" y="1903125"/>
            <a:ext cx="3000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a:t>x = torch.arange(12).reshape(3, 4)</a:t>
            </a:r>
            <a:endParaRPr/>
          </a:p>
          <a:p>
            <a:pPr indent="0" lvl="0" marL="0" rtl="0" algn="l">
              <a:spcBef>
                <a:spcPts val="0"/>
              </a:spcBef>
              <a:spcAft>
                <a:spcPts val="0"/>
              </a:spcAft>
              <a:buNone/>
            </a:pPr>
            <a:r>
              <a:rPr lang="ru"/>
              <a:t>y = x.T</a:t>
            </a:r>
            <a:endParaRPr/>
          </a:p>
          <a:p>
            <a:pPr indent="0" lvl="0" marL="0" rtl="0" algn="l">
              <a:spcBef>
                <a:spcPts val="0"/>
              </a:spcBef>
              <a:spcAft>
                <a:spcPts val="0"/>
              </a:spcAft>
              <a:buNone/>
            </a:pPr>
            <a:r>
              <a:t/>
            </a:r>
            <a:endParaRPr/>
          </a:p>
          <a:p>
            <a:pPr indent="0" lvl="0" marL="0" rtl="0" algn="l">
              <a:spcBef>
                <a:spcPts val="0"/>
              </a:spcBef>
              <a:spcAft>
                <a:spcPts val="0"/>
              </a:spcAft>
              <a:buNone/>
            </a:pPr>
            <a:r>
              <a:rPr lang="ru"/>
              <a:t>print(x.stride())  # (4, 1)</a:t>
            </a:r>
            <a:endParaRPr/>
          </a:p>
          <a:p>
            <a:pPr indent="0" lvl="0" marL="0" rtl="0" algn="l">
              <a:spcBef>
                <a:spcPts val="0"/>
              </a:spcBef>
              <a:spcAft>
                <a:spcPts val="0"/>
              </a:spcAft>
              <a:buNone/>
            </a:pPr>
            <a:r>
              <a:rPr lang="ru"/>
              <a:t>print(y.stride())  # </a:t>
            </a:r>
            <a:r>
              <a:rPr lang="ru">
                <a:solidFill>
                  <a:schemeClr val="dk1"/>
                </a:solidFill>
              </a:rPr>
              <a:t>(1, 4)</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2"/>
          <p:cNvSpPr txBox="1"/>
          <p:nvPr>
            <p:ph type="ctrTitle"/>
          </p:nvPr>
        </p:nvSpPr>
        <p:spPr>
          <a:xfrm>
            <a:off x="136950" y="243550"/>
            <a:ext cx="3653700" cy="906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ru"/>
              <a:t>Tensor</a:t>
            </a:r>
            <a:endParaRPr/>
          </a:p>
        </p:txBody>
      </p:sp>
      <p:sp>
        <p:nvSpPr>
          <p:cNvPr id="193" name="Google Shape;193;p32"/>
          <p:cNvSpPr txBox="1"/>
          <p:nvPr>
            <p:ph idx="1" type="subTitle"/>
          </p:nvPr>
        </p:nvSpPr>
        <p:spPr>
          <a:xfrm>
            <a:off x="403400" y="1074925"/>
            <a:ext cx="8139900" cy="64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1250">
                <a:latin typeface="Georgia"/>
                <a:ea typeface="Georgia"/>
                <a:cs typeface="Georgia"/>
                <a:sym typeface="Georgia"/>
              </a:rPr>
              <a:t>Tensor has link to its storage and his own meta data on how to navigate through that storage</a:t>
            </a:r>
            <a:endParaRPr sz="1250">
              <a:latin typeface="Georgia"/>
              <a:ea typeface="Georgia"/>
              <a:cs typeface="Georgia"/>
              <a:sym typeface="Georgia"/>
            </a:endParaRPr>
          </a:p>
        </p:txBody>
      </p:sp>
      <p:sp>
        <p:nvSpPr>
          <p:cNvPr id="194" name="Google Shape;194;p32"/>
          <p:cNvSpPr txBox="1"/>
          <p:nvPr>
            <p:ph idx="1" type="subTitle"/>
          </p:nvPr>
        </p:nvSpPr>
        <p:spPr>
          <a:xfrm>
            <a:off x="3858050" y="4559350"/>
            <a:ext cx="5198100" cy="471900"/>
          </a:xfrm>
          <a:prstGeom prst="rect">
            <a:avLst/>
          </a:prstGeom>
        </p:spPr>
        <p:txBody>
          <a:bodyPr anchorCtr="0" anchor="t" bIns="91425" lIns="91425" spcFirstLastPara="1" rIns="91425" wrap="square" tIns="91425">
            <a:normAutofit fontScale="77500" lnSpcReduction="20000"/>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source: </a:t>
            </a:r>
            <a:r>
              <a:rPr lang="ru" sz="1500" u="sng">
                <a:solidFill>
                  <a:schemeClr val="hlink"/>
                </a:solidFill>
                <a:highlight>
                  <a:srgbClr val="FFFFFF"/>
                </a:highlight>
                <a:latin typeface="Georgia"/>
                <a:ea typeface="Georgia"/>
                <a:cs typeface="Georgia"/>
                <a:sym typeface="Georgia"/>
                <a:hlinkClick r:id="rId3"/>
              </a:rPr>
              <a:t>https://blog.ezyang.com/2019/05/pytorch-internals/</a:t>
            </a:r>
            <a:endParaRPr sz="1500">
              <a:solidFill>
                <a:srgbClr val="444444"/>
              </a:solidFill>
              <a:highlight>
                <a:srgbClr val="FFFFFF"/>
              </a:highlight>
              <a:latin typeface="Georgia"/>
              <a:ea typeface="Georgia"/>
              <a:cs typeface="Georgia"/>
              <a:sym typeface="Georgia"/>
            </a:endParaRPr>
          </a:p>
          <a:p>
            <a:pPr indent="0" lvl="0" marL="0" rtl="0" algn="ctr">
              <a:spcBef>
                <a:spcPts val="0"/>
              </a:spcBef>
              <a:spcAft>
                <a:spcPts val="0"/>
              </a:spcAft>
              <a:buNone/>
            </a:pPr>
            <a:r>
              <a:t/>
            </a:r>
            <a:endParaRPr sz="1500">
              <a:solidFill>
                <a:srgbClr val="444444"/>
              </a:solidFill>
              <a:highlight>
                <a:srgbClr val="FFFFFF"/>
              </a:highlight>
              <a:latin typeface="Georgia"/>
              <a:ea typeface="Georgia"/>
              <a:cs typeface="Georgia"/>
              <a:sym typeface="Georgia"/>
            </a:endParaRPr>
          </a:p>
        </p:txBody>
      </p:sp>
      <p:pic>
        <p:nvPicPr>
          <p:cNvPr id="195" name="Google Shape;195;p32"/>
          <p:cNvPicPr preferRelativeResize="0"/>
          <p:nvPr/>
        </p:nvPicPr>
        <p:blipFill>
          <a:blip r:embed="rId4">
            <a:alphaModFix/>
          </a:blip>
          <a:stretch>
            <a:fillRect/>
          </a:stretch>
        </p:blipFill>
        <p:spPr>
          <a:xfrm>
            <a:off x="2221818" y="1535888"/>
            <a:ext cx="3800232" cy="285018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3"/>
          <p:cNvSpPr txBox="1"/>
          <p:nvPr>
            <p:ph type="ctrTitle"/>
          </p:nvPr>
        </p:nvSpPr>
        <p:spPr>
          <a:xfrm>
            <a:off x="136950" y="243550"/>
            <a:ext cx="3653700" cy="906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ru"/>
              <a:t>Tensor</a:t>
            </a:r>
            <a:endParaRPr/>
          </a:p>
        </p:txBody>
      </p:sp>
      <p:sp>
        <p:nvSpPr>
          <p:cNvPr id="201" name="Google Shape;201;p33"/>
          <p:cNvSpPr txBox="1"/>
          <p:nvPr>
            <p:ph idx="1" type="subTitle"/>
          </p:nvPr>
        </p:nvSpPr>
        <p:spPr>
          <a:xfrm>
            <a:off x="403400" y="1074925"/>
            <a:ext cx="8139900" cy="64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1250">
                <a:latin typeface="Georgia"/>
                <a:ea typeface="Georgia"/>
                <a:cs typeface="Georgia"/>
                <a:sym typeface="Georgia"/>
              </a:rPr>
              <a:t>How tensor operations works</a:t>
            </a:r>
            <a:endParaRPr sz="1250">
              <a:latin typeface="Georgia"/>
              <a:ea typeface="Georgia"/>
              <a:cs typeface="Georgia"/>
              <a:sym typeface="Georgia"/>
            </a:endParaRPr>
          </a:p>
        </p:txBody>
      </p:sp>
      <p:sp>
        <p:nvSpPr>
          <p:cNvPr id="202" name="Google Shape;202;p33"/>
          <p:cNvSpPr txBox="1"/>
          <p:nvPr>
            <p:ph idx="1" type="subTitle"/>
          </p:nvPr>
        </p:nvSpPr>
        <p:spPr>
          <a:xfrm>
            <a:off x="3858050" y="4559350"/>
            <a:ext cx="5198100" cy="471900"/>
          </a:xfrm>
          <a:prstGeom prst="rect">
            <a:avLst/>
          </a:prstGeom>
        </p:spPr>
        <p:txBody>
          <a:bodyPr anchorCtr="0" anchor="t" bIns="91425" lIns="91425" spcFirstLastPara="1" rIns="91425" wrap="square" tIns="91425">
            <a:normAutofit fontScale="77500" lnSpcReduction="20000"/>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source: </a:t>
            </a:r>
            <a:r>
              <a:rPr lang="ru" sz="1500" u="sng">
                <a:solidFill>
                  <a:schemeClr val="hlink"/>
                </a:solidFill>
                <a:highlight>
                  <a:srgbClr val="FFFFFF"/>
                </a:highlight>
                <a:latin typeface="Georgia"/>
                <a:ea typeface="Georgia"/>
                <a:cs typeface="Georgia"/>
                <a:sym typeface="Georgia"/>
                <a:hlinkClick r:id="rId3"/>
              </a:rPr>
              <a:t>https://blog.ezyang.com/2019/05/pytorch-internals/</a:t>
            </a:r>
            <a:endParaRPr sz="1500">
              <a:solidFill>
                <a:srgbClr val="444444"/>
              </a:solidFill>
              <a:highlight>
                <a:srgbClr val="FFFFFF"/>
              </a:highlight>
              <a:latin typeface="Georgia"/>
              <a:ea typeface="Georgia"/>
              <a:cs typeface="Georgia"/>
              <a:sym typeface="Georgia"/>
            </a:endParaRPr>
          </a:p>
          <a:p>
            <a:pPr indent="0" lvl="0" marL="0" rtl="0" algn="ctr">
              <a:spcBef>
                <a:spcPts val="0"/>
              </a:spcBef>
              <a:spcAft>
                <a:spcPts val="0"/>
              </a:spcAft>
              <a:buNone/>
            </a:pPr>
            <a:r>
              <a:t/>
            </a:r>
            <a:endParaRPr sz="1500">
              <a:solidFill>
                <a:srgbClr val="444444"/>
              </a:solidFill>
              <a:highlight>
                <a:srgbClr val="FFFFFF"/>
              </a:highlight>
              <a:latin typeface="Georgia"/>
              <a:ea typeface="Georgia"/>
              <a:cs typeface="Georgia"/>
              <a:sym typeface="Georgia"/>
            </a:endParaRPr>
          </a:p>
        </p:txBody>
      </p:sp>
      <p:pic>
        <p:nvPicPr>
          <p:cNvPr id="203" name="Google Shape;203;p33"/>
          <p:cNvPicPr preferRelativeResize="0"/>
          <p:nvPr/>
        </p:nvPicPr>
        <p:blipFill>
          <a:blip r:embed="rId4">
            <a:alphaModFix/>
          </a:blip>
          <a:stretch>
            <a:fillRect/>
          </a:stretch>
        </p:blipFill>
        <p:spPr>
          <a:xfrm>
            <a:off x="2279250" y="1409399"/>
            <a:ext cx="4024501" cy="304290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4"/>
          <p:cNvSpPr txBox="1"/>
          <p:nvPr>
            <p:ph type="ctrTitle"/>
          </p:nvPr>
        </p:nvSpPr>
        <p:spPr>
          <a:xfrm>
            <a:off x="136950" y="243550"/>
            <a:ext cx="3653700" cy="906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ru"/>
              <a:t>Tensor</a:t>
            </a:r>
            <a:endParaRPr/>
          </a:p>
        </p:txBody>
      </p:sp>
      <p:sp>
        <p:nvSpPr>
          <p:cNvPr id="209" name="Google Shape;209;p34"/>
          <p:cNvSpPr txBox="1"/>
          <p:nvPr>
            <p:ph idx="1" type="subTitle"/>
          </p:nvPr>
        </p:nvSpPr>
        <p:spPr>
          <a:xfrm>
            <a:off x="403400" y="1074925"/>
            <a:ext cx="8139900" cy="64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1250">
                <a:latin typeface="Georgia"/>
                <a:ea typeface="Georgia"/>
                <a:cs typeface="Georgia"/>
                <a:sym typeface="Georgia"/>
              </a:rPr>
              <a:t>Extensions</a:t>
            </a:r>
            <a:endParaRPr sz="1250">
              <a:latin typeface="Georgia"/>
              <a:ea typeface="Georgia"/>
              <a:cs typeface="Georgia"/>
              <a:sym typeface="Georgia"/>
            </a:endParaRPr>
          </a:p>
        </p:txBody>
      </p:sp>
      <p:sp>
        <p:nvSpPr>
          <p:cNvPr id="210" name="Google Shape;210;p34"/>
          <p:cNvSpPr txBox="1"/>
          <p:nvPr>
            <p:ph idx="1" type="subTitle"/>
          </p:nvPr>
        </p:nvSpPr>
        <p:spPr>
          <a:xfrm>
            <a:off x="3858050" y="4559350"/>
            <a:ext cx="5198100" cy="471900"/>
          </a:xfrm>
          <a:prstGeom prst="rect">
            <a:avLst/>
          </a:prstGeom>
        </p:spPr>
        <p:txBody>
          <a:bodyPr anchorCtr="0" anchor="t" bIns="91425" lIns="91425" spcFirstLastPara="1" rIns="91425" wrap="square" tIns="91425">
            <a:normAutofit fontScale="77500" lnSpcReduction="20000"/>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source: </a:t>
            </a:r>
            <a:r>
              <a:rPr lang="ru" sz="1500" u="sng">
                <a:solidFill>
                  <a:schemeClr val="hlink"/>
                </a:solidFill>
                <a:highlight>
                  <a:srgbClr val="FFFFFF"/>
                </a:highlight>
                <a:latin typeface="Georgia"/>
                <a:ea typeface="Georgia"/>
                <a:cs typeface="Georgia"/>
                <a:sym typeface="Georgia"/>
                <a:hlinkClick r:id="rId3"/>
              </a:rPr>
              <a:t>https://blog.ezyang.com/2019/05/pytorch-internals/</a:t>
            </a:r>
            <a:endParaRPr sz="1500">
              <a:solidFill>
                <a:srgbClr val="444444"/>
              </a:solidFill>
              <a:highlight>
                <a:srgbClr val="FFFFFF"/>
              </a:highlight>
              <a:latin typeface="Georgia"/>
              <a:ea typeface="Georgia"/>
              <a:cs typeface="Georgia"/>
              <a:sym typeface="Georgia"/>
            </a:endParaRPr>
          </a:p>
          <a:p>
            <a:pPr indent="0" lvl="0" marL="0" rtl="0" algn="ctr">
              <a:spcBef>
                <a:spcPts val="0"/>
              </a:spcBef>
              <a:spcAft>
                <a:spcPts val="0"/>
              </a:spcAft>
              <a:buNone/>
            </a:pPr>
            <a:r>
              <a:t/>
            </a:r>
            <a:endParaRPr sz="1500">
              <a:solidFill>
                <a:srgbClr val="444444"/>
              </a:solidFill>
              <a:highlight>
                <a:srgbClr val="FFFFFF"/>
              </a:highlight>
              <a:latin typeface="Georgia"/>
              <a:ea typeface="Georgia"/>
              <a:cs typeface="Georgia"/>
              <a:sym typeface="Georgia"/>
            </a:endParaRPr>
          </a:p>
        </p:txBody>
      </p:sp>
      <p:pic>
        <p:nvPicPr>
          <p:cNvPr id="211" name="Google Shape;211;p34"/>
          <p:cNvPicPr preferRelativeResize="0"/>
          <p:nvPr/>
        </p:nvPicPr>
        <p:blipFill>
          <a:blip r:embed="rId4">
            <a:alphaModFix/>
          </a:blip>
          <a:stretch>
            <a:fillRect/>
          </a:stretch>
        </p:blipFill>
        <p:spPr>
          <a:xfrm>
            <a:off x="2516187" y="1497075"/>
            <a:ext cx="3914324" cy="293574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5"/>
          <p:cNvSpPr txBox="1"/>
          <p:nvPr>
            <p:ph type="ctrTitle"/>
          </p:nvPr>
        </p:nvSpPr>
        <p:spPr>
          <a:xfrm>
            <a:off x="136950" y="243550"/>
            <a:ext cx="3653700" cy="906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ru"/>
              <a:t>Tensor</a:t>
            </a:r>
            <a:endParaRPr/>
          </a:p>
        </p:txBody>
      </p:sp>
      <p:sp>
        <p:nvSpPr>
          <p:cNvPr id="217" name="Google Shape;217;p35"/>
          <p:cNvSpPr txBox="1"/>
          <p:nvPr>
            <p:ph idx="1" type="subTitle"/>
          </p:nvPr>
        </p:nvSpPr>
        <p:spPr>
          <a:xfrm>
            <a:off x="403400" y="1074925"/>
            <a:ext cx="8139900" cy="64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1250">
                <a:latin typeface="Georgia"/>
                <a:ea typeface="Georgia"/>
                <a:cs typeface="Georgia"/>
                <a:sym typeface="Georgia"/>
              </a:rPr>
              <a:t>What components determine operations against tensors</a:t>
            </a:r>
            <a:endParaRPr sz="1250">
              <a:latin typeface="Georgia"/>
              <a:ea typeface="Georgia"/>
              <a:cs typeface="Georgia"/>
              <a:sym typeface="Georgia"/>
            </a:endParaRPr>
          </a:p>
        </p:txBody>
      </p:sp>
      <p:sp>
        <p:nvSpPr>
          <p:cNvPr id="218" name="Google Shape;218;p35"/>
          <p:cNvSpPr txBox="1"/>
          <p:nvPr>
            <p:ph idx="1" type="subTitle"/>
          </p:nvPr>
        </p:nvSpPr>
        <p:spPr>
          <a:xfrm>
            <a:off x="3858050" y="4559350"/>
            <a:ext cx="5198100" cy="471900"/>
          </a:xfrm>
          <a:prstGeom prst="rect">
            <a:avLst/>
          </a:prstGeom>
        </p:spPr>
        <p:txBody>
          <a:bodyPr anchorCtr="0" anchor="t" bIns="91425" lIns="91425" spcFirstLastPara="1" rIns="91425" wrap="square" tIns="91425">
            <a:normAutofit fontScale="77500" lnSpcReduction="20000"/>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source: </a:t>
            </a:r>
            <a:r>
              <a:rPr lang="ru" sz="1500" u="sng">
                <a:solidFill>
                  <a:schemeClr val="hlink"/>
                </a:solidFill>
                <a:highlight>
                  <a:srgbClr val="FFFFFF"/>
                </a:highlight>
                <a:latin typeface="Georgia"/>
                <a:ea typeface="Georgia"/>
                <a:cs typeface="Georgia"/>
                <a:sym typeface="Georgia"/>
                <a:hlinkClick r:id="rId3"/>
              </a:rPr>
              <a:t>https://blog.ezyang.com/2019/05/pytorch-internals/</a:t>
            </a:r>
            <a:endParaRPr sz="1500">
              <a:solidFill>
                <a:srgbClr val="444444"/>
              </a:solidFill>
              <a:highlight>
                <a:srgbClr val="FFFFFF"/>
              </a:highlight>
              <a:latin typeface="Georgia"/>
              <a:ea typeface="Georgia"/>
              <a:cs typeface="Georgia"/>
              <a:sym typeface="Georgia"/>
            </a:endParaRPr>
          </a:p>
          <a:p>
            <a:pPr indent="0" lvl="0" marL="0" rtl="0" algn="ctr">
              <a:spcBef>
                <a:spcPts val="0"/>
              </a:spcBef>
              <a:spcAft>
                <a:spcPts val="0"/>
              </a:spcAft>
              <a:buNone/>
            </a:pPr>
            <a:r>
              <a:t/>
            </a:r>
            <a:endParaRPr sz="1500">
              <a:solidFill>
                <a:srgbClr val="444444"/>
              </a:solidFill>
              <a:highlight>
                <a:srgbClr val="FFFFFF"/>
              </a:highlight>
              <a:latin typeface="Georgia"/>
              <a:ea typeface="Georgia"/>
              <a:cs typeface="Georgia"/>
              <a:sym typeface="Georgia"/>
            </a:endParaRPr>
          </a:p>
        </p:txBody>
      </p:sp>
      <p:pic>
        <p:nvPicPr>
          <p:cNvPr id="219" name="Google Shape;219;p35"/>
          <p:cNvPicPr preferRelativeResize="0"/>
          <p:nvPr/>
        </p:nvPicPr>
        <p:blipFill>
          <a:blip r:embed="rId4">
            <a:alphaModFix/>
          </a:blip>
          <a:stretch>
            <a:fillRect/>
          </a:stretch>
        </p:blipFill>
        <p:spPr>
          <a:xfrm>
            <a:off x="2245850" y="1455250"/>
            <a:ext cx="4138780" cy="31041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6"/>
          <p:cNvSpPr txBox="1"/>
          <p:nvPr>
            <p:ph type="ctrTitle"/>
          </p:nvPr>
        </p:nvSpPr>
        <p:spPr>
          <a:xfrm>
            <a:off x="136950" y="243550"/>
            <a:ext cx="3653700" cy="906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ru"/>
              <a:t>Tensor</a:t>
            </a:r>
            <a:endParaRPr/>
          </a:p>
        </p:txBody>
      </p:sp>
      <p:sp>
        <p:nvSpPr>
          <p:cNvPr id="225" name="Google Shape;225;p36"/>
          <p:cNvSpPr txBox="1"/>
          <p:nvPr>
            <p:ph idx="1" type="subTitle"/>
          </p:nvPr>
        </p:nvSpPr>
        <p:spPr>
          <a:xfrm>
            <a:off x="403400" y="1074925"/>
            <a:ext cx="8139900" cy="64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1500">
                <a:solidFill>
                  <a:srgbClr val="444444"/>
                </a:solidFill>
                <a:highlight>
                  <a:srgbClr val="FFFFFF"/>
                </a:highlight>
                <a:latin typeface="Georgia"/>
                <a:ea typeface="Georgia"/>
                <a:cs typeface="Georgia"/>
                <a:sym typeface="Georgia"/>
              </a:rPr>
              <a:t>Now, not all of these combinations may actually have kernels (who’s got kernels for sparse, quantized tensors on FPGA?)</a:t>
            </a:r>
            <a:endParaRPr sz="1250">
              <a:latin typeface="Georgia"/>
              <a:ea typeface="Georgia"/>
              <a:cs typeface="Georgia"/>
              <a:sym typeface="Georgia"/>
            </a:endParaRPr>
          </a:p>
        </p:txBody>
      </p:sp>
      <p:sp>
        <p:nvSpPr>
          <p:cNvPr id="226" name="Google Shape;226;p36"/>
          <p:cNvSpPr txBox="1"/>
          <p:nvPr>
            <p:ph idx="1" type="subTitle"/>
          </p:nvPr>
        </p:nvSpPr>
        <p:spPr>
          <a:xfrm>
            <a:off x="3858050" y="4559350"/>
            <a:ext cx="5198100" cy="471900"/>
          </a:xfrm>
          <a:prstGeom prst="rect">
            <a:avLst/>
          </a:prstGeom>
        </p:spPr>
        <p:txBody>
          <a:bodyPr anchorCtr="0" anchor="t" bIns="91425" lIns="91425" spcFirstLastPara="1" rIns="91425" wrap="square" tIns="91425">
            <a:normAutofit fontScale="77500" lnSpcReduction="20000"/>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source: </a:t>
            </a:r>
            <a:r>
              <a:rPr lang="ru" sz="1500" u="sng">
                <a:solidFill>
                  <a:schemeClr val="hlink"/>
                </a:solidFill>
                <a:highlight>
                  <a:srgbClr val="FFFFFF"/>
                </a:highlight>
                <a:latin typeface="Georgia"/>
                <a:ea typeface="Georgia"/>
                <a:cs typeface="Georgia"/>
                <a:sym typeface="Georgia"/>
                <a:hlinkClick r:id="rId3"/>
              </a:rPr>
              <a:t>https://blog.ezyang.com/2019/05/pytorch-internals/</a:t>
            </a:r>
            <a:endParaRPr sz="1500">
              <a:solidFill>
                <a:srgbClr val="444444"/>
              </a:solidFill>
              <a:highlight>
                <a:srgbClr val="FFFFFF"/>
              </a:highlight>
              <a:latin typeface="Georgia"/>
              <a:ea typeface="Georgia"/>
              <a:cs typeface="Georgia"/>
              <a:sym typeface="Georgia"/>
            </a:endParaRPr>
          </a:p>
          <a:p>
            <a:pPr indent="0" lvl="0" marL="0" rtl="0" algn="ctr">
              <a:spcBef>
                <a:spcPts val="0"/>
              </a:spcBef>
              <a:spcAft>
                <a:spcPts val="0"/>
              </a:spcAft>
              <a:buNone/>
            </a:pPr>
            <a:r>
              <a:t/>
            </a:r>
            <a:endParaRPr sz="1500">
              <a:solidFill>
                <a:srgbClr val="444444"/>
              </a:solidFill>
              <a:highlight>
                <a:srgbClr val="FFFFFF"/>
              </a:highlight>
              <a:latin typeface="Georgia"/>
              <a:ea typeface="Georgia"/>
              <a:cs typeface="Georgia"/>
              <a:sym typeface="Georgia"/>
            </a:endParaRPr>
          </a:p>
        </p:txBody>
      </p:sp>
      <p:sp>
        <p:nvSpPr>
          <p:cNvPr id="227" name="Google Shape;227;p36"/>
          <p:cNvSpPr txBox="1"/>
          <p:nvPr/>
        </p:nvSpPr>
        <p:spPr>
          <a:xfrm>
            <a:off x="4607625" y="1682775"/>
            <a:ext cx="2899800" cy="2820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ru" sz="1100">
                <a:solidFill>
                  <a:schemeClr val="dk1"/>
                </a:solidFill>
              </a:rPr>
              <a:t>Kernel — это конкретная реализация операции под определенное железо.</a:t>
            </a:r>
            <a:endParaRPr sz="1100">
              <a:solidFill>
                <a:schemeClr val="dk1"/>
              </a:solidFill>
            </a:endParaRPr>
          </a:p>
          <a:p>
            <a:pPr indent="0" lvl="0" marL="0" rtl="0" algn="l">
              <a:lnSpc>
                <a:spcPct val="115000"/>
              </a:lnSpc>
              <a:spcBef>
                <a:spcPts val="1200"/>
              </a:spcBef>
              <a:spcAft>
                <a:spcPts val="0"/>
              </a:spcAft>
              <a:buNone/>
            </a:pPr>
            <a:r>
              <a:rPr lang="ru" sz="1100">
                <a:solidFill>
                  <a:schemeClr val="dk1"/>
                </a:solidFill>
              </a:rPr>
              <a:t>Например </a:t>
            </a:r>
            <a:r>
              <a:rPr lang="ru" sz="1100">
                <a:solidFill>
                  <a:srgbClr val="188038"/>
                </a:solidFill>
                <a:latin typeface="Roboto Mono"/>
                <a:ea typeface="Roboto Mono"/>
                <a:cs typeface="Roboto Mono"/>
                <a:sym typeface="Roboto Mono"/>
              </a:rPr>
              <a:t>torch.add(x, y)</a:t>
            </a:r>
            <a:r>
              <a:rPr lang="ru" sz="1100">
                <a:solidFill>
                  <a:schemeClr val="dk1"/>
                </a:solidFill>
              </a:rPr>
              <a:t> — это не одна функция внутри PyTorch. Под капотом могут быть разные реализации:</a:t>
            </a:r>
            <a:endParaRPr sz="1100">
              <a:solidFill>
                <a:schemeClr val="dk1"/>
              </a:solidFill>
            </a:endParaRPr>
          </a:p>
          <a:p>
            <a:pPr indent="0" lvl="0" marL="0" rtl="0" algn="l">
              <a:spcBef>
                <a:spcPts val="1200"/>
              </a:spcBef>
              <a:spcAft>
                <a:spcPts val="0"/>
              </a:spcAft>
              <a:buNone/>
            </a:pPr>
            <a:r>
              <a:rPr lang="ru" sz="1100">
                <a:solidFill>
                  <a:schemeClr val="dk1"/>
                </a:solidFill>
              </a:rPr>
              <a:t>add для CPU float32</a:t>
            </a:r>
            <a:endParaRPr sz="1100">
              <a:solidFill>
                <a:schemeClr val="dk1"/>
              </a:solidFill>
            </a:endParaRPr>
          </a:p>
          <a:p>
            <a:pPr indent="0" lvl="0" marL="0" rtl="0" algn="l">
              <a:spcBef>
                <a:spcPts val="0"/>
              </a:spcBef>
              <a:spcAft>
                <a:spcPts val="0"/>
              </a:spcAft>
              <a:buNone/>
            </a:pPr>
            <a:r>
              <a:rPr lang="ru" sz="1100">
                <a:solidFill>
                  <a:schemeClr val="dk1"/>
                </a:solidFill>
              </a:rPr>
              <a:t>add для CUDA float32</a:t>
            </a:r>
            <a:endParaRPr sz="1100">
              <a:solidFill>
                <a:schemeClr val="dk1"/>
              </a:solidFill>
            </a:endParaRPr>
          </a:p>
          <a:p>
            <a:pPr indent="0" lvl="0" marL="0" rtl="0" algn="l">
              <a:spcBef>
                <a:spcPts val="0"/>
              </a:spcBef>
              <a:spcAft>
                <a:spcPts val="0"/>
              </a:spcAft>
              <a:buNone/>
            </a:pPr>
            <a:r>
              <a:rPr lang="ru" sz="1100">
                <a:solidFill>
                  <a:schemeClr val="dk1"/>
                </a:solidFill>
              </a:rPr>
              <a:t>add для CUDA float16</a:t>
            </a:r>
            <a:endParaRPr sz="1100">
              <a:solidFill>
                <a:schemeClr val="dk1"/>
              </a:solidFill>
            </a:endParaRPr>
          </a:p>
          <a:p>
            <a:pPr indent="0" lvl="0" marL="0" rtl="0" algn="l">
              <a:spcBef>
                <a:spcPts val="0"/>
              </a:spcBef>
              <a:spcAft>
                <a:spcPts val="0"/>
              </a:spcAft>
              <a:buNone/>
            </a:pPr>
            <a:r>
              <a:rPr lang="ru" sz="1100">
                <a:solidFill>
                  <a:schemeClr val="dk1"/>
                </a:solidFill>
              </a:rPr>
              <a:t>add для CPU int64</a:t>
            </a:r>
            <a:endParaRPr sz="1100">
              <a:solidFill>
                <a:schemeClr val="dk1"/>
              </a:solidFill>
            </a:endParaRPr>
          </a:p>
          <a:p>
            <a:pPr indent="0" lvl="0" marL="0" rtl="0" algn="l">
              <a:spcBef>
                <a:spcPts val="0"/>
              </a:spcBef>
              <a:spcAft>
                <a:spcPts val="0"/>
              </a:spcAft>
              <a:buNone/>
            </a:pPr>
            <a:r>
              <a:rPr lang="ru" sz="1100">
                <a:solidFill>
                  <a:schemeClr val="dk1"/>
                </a:solidFill>
              </a:rPr>
              <a:t>add для sparse CPU</a:t>
            </a:r>
            <a:endParaRPr sz="1100">
              <a:solidFill>
                <a:schemeClr val="dk1"/>
              </a:solidFill>
            </a:endParaRPr>
          </a:p>
          <a:p>
            <a:pPr indent="0" lvl="0" marL="0" rtl="0" algn="l">
              <a:spcBef>
                <a:spcPts val="0"/>
              </a:spcBef>
              <a:spcAft>
                <a:spcPts val="0"/>
              </a:spcAft>
              <a:buNone/>
            </a:pPr>
            <a:r>
              <a:rPr lang="ru" sz="1100">
                <a:solidFill>
                  <a:schemeClr val="dk1"/>
                </a:solidFill>
              </a:rPr>
              <a:t>add для sparse CUDA</a:t>
            </a:r>
            <a:endParaRPr sz="1100">
              <a:solidFill>
                <a:schemeClr val="dk1"/>
              </a:solidFill>
            </a:endParaRPr>
          </a:p>
          <a:p>
            <a:pPr indent="0" lvl="0" marL="0" rtl="0" algn="l">
              <a:spcBef>
                <a:spcPts val="0"/>
              </a:spcBef>
              <a:spcAft>
                <a:spcPts val="0"/>
              </a:spcAft>
              <a:buNone/>
            </a:pPr>
            <a:r>
              <a:rPr lang="ru" sz="1100">
                <a:solidFill>
                  <a:schemeClr val="dk1"/>
                </a:solidFill>
              </a:rPr>
              <a:t>add для quantized CPU</a:t>
            </a:r>
            <a:endParaRPr sz="1100">
              <a:solidFill>
                <a:schemeClr val="dk1"/>
              </a:solidFill>
            </a:endParaRPr>
          </a:p>
          <a:p>
            <a:pPr indent="0" lvl="0" marL="0" rtl="0" algn="l">
              <a:lnSpc>
                <a:spcPct val="115000"/>
              </a:lnSpc>
              <a:spcBef>
                <a:spcPts val="0"/>
              </a:spcBef>
              <a:spcAft>
                <a:spcPts val="0"/>
              </a:spcAft>
              <a:buNone/>
            </a:pPr>
            <a:r>
              <a:rPr lang="ru" sz="1100">
                <a:solidFill>
                  <a:schemeClr val="dk1"/>
                </a:solidFill>
              </a:rPr>
              <a:t>...</a:t>
            </a:r>
            <a:endParaRPr sz="1100">
              <a:solidFill>
                <a:schemeClr val="dk1"/>
              </a:solidFill>
            </a:endParaRPr>
          </a:p>
        </p:txBody>
      </p:sp>
      <p:pic>
        <p:nvPicPr>
          <p:cNvPr id="228" name="Google Shape;228;p36"/>
          <p:cNvPicPr preferRelativeResize="0"/>
          <p:nvPr/>
        </p:nvPicPr>
        <p:blipFill>
          <a:blip r:embed="rId4">
            <a:alphaModFix/>
          </a:blip>
          <a:stretch>
            <a:fillRect/>
          </a:stretch>
        </p:blipFill>
        <p:spPr>
          <a:xfrm>
            <a:off x="374650" y="1973774"/>
            <a:ext cx="3271376" cy="24535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7"/>
          <p:cNvSpPr txBox="1"/>
          <p:nvPr>
            <p:ph type="ctrTitle"/>
          </p:nvPr>
        </p:nvSpPr>
        <p:spPr>
          <a:xfrm>
            <a:off x="311700" y="490375"/>
            <a:ext cx="8520600" cy="8982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ru"/>
              <a:t>План семинара</a:t>
            </a:r>
            <a:endParaRPr/>
          </a:p>
        </p:txBody>
      </p:sp>
      <p:sp>
        <p:nvSpPr>
          <p:cNvPr id="234" name="Google Shape;234;p37"/>
          <p:cNvSpPr txBox="1"/>
          <p:nvPr>
            <p:ph idx="1" type="subTitle"/>
          </p:nvPr>
        </p:nvSpPr>
        <p:spPr>
          <a:xfrm>
            <a:off x="369375" y="1954050"/>
            <a:ext cx="6096900" cy="2233200"/>
          </a:xfrm>
          <a:prstGeom prst="rect">
            <a:avLst/>
          </a:prstGeom>
        </p:spPr>
        <p:txBody>
          <a:bodyPr anchorCtr="0" anchor="t" bIns="91425" lIns="91425" spcFirstLastPara="1" rIns="91425" wrap="square" tIns="91425">
            <a:normAutofit fontScale="62500" lnSpcReduction="20000"/>
          </a:bodyPr>
          <a:lstStyle/>
          <a:p>
            <a:pPr indent="0" lvl="0" marL="0" rtl="0" algn="l">
              <a:lnSpc>
                <a:spcPct val="150000"/>
              </a:lnSpc>
              <a:spcBef>
                <a:spcPts val="0"/>
              </a:spcBef>
              <a:spcAft>
                <a:spcPts val="0"/>
              </a:spcAft>
              <a:buNone/>
            </a:pPr>
            <a:r>
              <a:rPr lang="ru"/>
              <a:t>План на семинар:</a:t>
            </a:r>
            <a:endParaRPr/>
          </a:p>
          <a:p>
            <a:pPr indent="-339725" lvl="0" marL="457200" rtl="0" algn="l">
              <a:lnSpc>
                <a:spcPct val="150000"/>
              </a:lnSpc>
              <a:spcBef>
                <a:spcPts val="0"/>
              </a:spcBef>
              <a:spcAft>
                <a:spcPts val="0"/>
              </a:spcAft>
              <a:buSzPct val="100000"/>
              <a:buChar char="●"/>
            </a:pPr>
            <a:r>
              <a:rPr lang="ru"/>
              <a:t>История PyTorch</a:t>
            </a:r>
            <a:endParaRPr/>
          </a:p>
          <a:p>
            <a:pPr indent="-339725" lvl="0" marL="457200" rtl="0" algn="l">
              <a:lnSpc>
                <a:spcPct val="150000"/>
              </a:lnSpc>
              <a:spcBef>
                <a:spcPts val="0"/>
              </a:spcBef>
              <a:spcAft>
                <a:spcPts val="0"/>
              </a:spcAft>
              <a:buSzPct val="100000"/>
              <a:buChar char="●"/>
            </a:pPr>
            <a:r>
              <a:rPr lang="ru"/>
              <a:t>Отличия от numpy</a:t>
            </a:r>
            <a:endParaRPr/>
          </a:p>
          <a:p>
            <a:pPr indent="-339725" lvl="0" marL="457200" rtl="0" algn="l">
              <a:lnSpc>
                <a:spcPct val="150000"/>
              </a:lnSpc>
              <a:spcBef>
                <a:spcPts val="0"/>
              </a:spcBef>
              <a:spcAft>
                <a:spcPts val="0"/>
              </a:spcAft>
              <a:buSzPct val="100000"/>
              <a:buChar char="●"/>
            </a:pPr>
            <a:r>
              <a:rPr lang="ru"/>
              <a:t>Tensor</a:t>
            </a:r>
            <a:endParaRPr/>
          </a:p>
          <a:p>
            <a:pPr indent="-339725" lvl="0" marL="457200" rtl="0" algn="l">
              <a:lnSpc>
                <a:spcPct val="150000"/>
              </a:lnSpc>
              <a:spcBef>
                <a:spcPts val="0"/>
              </a:spcBef>
              <a:spcAft>
                <a:spcPts val="0"/>
              </a:spcAft>
              <a:buSzPct val="100000"/>
              <a:buChar char="●"/>
            </a:pPr>
            <a:r>
              <a:rPr b="1" lang="ru"/>
              <a:t>Autograd</a:t>
            </a:r>
            <a:endParaRPr b="1"/>
          </a:p>
          <a:p>
            <a:pPr indent="-339725" lvl="0" marL="457200" rtl="0" algn="l">
              <a:lnSpc>
                <a:spcPct val="150000"/>
              </a:lnSpc>
              <a:spcBef>
                <a:spcPts val="0"/>
              </a:spcBef>
              <a:spcAft>
                <a:spcPts val="0"/>
              </a:spcAft>
              <a:buSzPct val="100000"/>
              <a:buChar char="●"/>
            </a:pPr>
            <a:r>
              <a:rPr lang="ru"/>
              <a:t>Практика</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8"/>
          <p:cNvSpPr txBox="1"/>
          <p:nvPr>
            <p:ph type="ctrTitle"/>
          </p:nvPr>
        </p:nvSpPr>
        <p:spPr>
          <a:xfrm>
            <a:off x="311701" y="392100"/>
            <a:ext cx="3312000" cy="888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ru"/>
              <a:t>Autograd</a:t>
            </a:r>
            <a:endParaRPr/>
          </a:p>
        </p:txBody>
      </p:sp>
      <p:sp>
        <p:nvSpPr>
          <p:cNvPr id="240" name="Google Shape;240;p38"/>
          <p:cNvSpPr txBox="1"/>
          <p:nvPr>
            <p:ph idx="1" type="subTitle"/>
          </p:nvPr>
        </p:nvSpPr>
        <p:spPr>
          <a:xfrm>
            <a:off x="3858050" y="4559350"/>
            <a:ext cx="5198100" cy="471900"/>
          </a:xfrm>
          <a:prstGeom prst="rect">
            <a:avLst/>
          </a:prstGeom>
        </p:spPr>
        <p:txBody>
          <a:bodyPr anchorCtr="0" anchor="t" bIns="91425" lIns="91425" spcFirstLastPara="1" rIns="91425" wrap="square" tIns="91425">
            <a:normAutofit fontScale="77500"/>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source: </a:t>
            </a:r>
            <a:r>
              <a:rPr lang="ru" sz="1500" u="sng">
                <a:solidFill>
                  <a:schemeClr val="hlink"/>
                </a:solidFill>
                <a:highlight>
                  <a:srgbClr val="FFFFFF"/>
                </a:highlight>
                <a:latin typeface="Georgia"/>
                <a:ea typeface="Georgia"/>
                <a:cs typeface="Georgia"/>
                <a:sym typeface="Georgia"/>
                <a:hlinkClick r:id="rId3"/>
              </a:rPr>
              <a:t>https://cs231n.stanford.edu/slides/2016/winter1516_lecture4.pdf</a:t>
            </a:r>
            <a:endParaRPr sz="1500">
              <a:solidFill>
                <a:srgbClr val="444444"/>
              </a:solidFill>
              <a:highlight>
                <a:srgbClr val="FFFFFF"/>
              </a:highlight>
              <a:latin typeface="Georgia"/>
              <a:ea typeface="Georgia"/>
              <a:cs typeface="Georgia"/>
              <a:sym typeface="Georgia"/>
            </a:endParaRPr>
          </a:p>
        </p:txBody>
      </p:sp>
      <p:sp>
        <p:nvSpPr>
          <p:cNvPr id="241" name="Google Shape;241;p38"/>
          <p:cNvSpPr txBox="1"/>
          <p:nvPr>
            <p:ph idx="1" type="subTitle"/>
          </p:nvPr>
        </p:nvSpPr>
        <p:spPr>
          <a:xfrm>
            <a:off x="801550" y="1280400"/>
            <a:ext cx="2716800" cy="471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backpropagation</a:t>
            </a:r>
            <a:endParaRPr sz="1500">
              <a:solidFill>
                <a:srgbClr val="444444"/>
              </a:solidFill>
              <a:highlight>
                <a:srgbClr val="FFFFFF"/>
              </a:highlight>
              <a:latin typeface="Georgia"/>
              <a:ea typeface="Georgia"/>
              <a:cs typeface="Georgia"/>
              <a:sym typeface="Georgia"/>
            </a:endParaRPr>
          </a:p>
        </p:txBody>
      </p:sp>
      <p:pic>
        <p:nvPicPr>
          <p:cNvPr id="242" name="Google Shape;242;p38"/>
          <p:cNvPicPr preferRelativeResize="0"/>
          <p:nvPr/>
        </p:nvPicPr>
        <p:blipFill>
          <a:blip r:embed="rId4">
            <a:alphaModFix/>
          </a:blip>
          <a:stretch>
            <a:fillRect/>
          </a:stretch>
        </p:blipFill>
        <p:spPr>
          <a:xfrm>
            <a:off x="670950" y="2002750"/>
            <a:ext cx="7551876" cy="2069350"/>
          </a:xfrm>
          <a:prstGeom prst="rect">
            <a:avLst/>
          </a:prstGeom>
          <a:noFill/>
          <a:ln>
            <a:noFill/>
          </a:ln>
        </p:spPr>
      </p:pic>
      <p:pic>
        <p:nvPicPr>
          <p:cNvPr id="243" name="Google Shape;243;p38"/>
          <p:cNvPicPr preferRelativeResize="0"/>
          <p:nvPr/>
        </p:nvPicPr>
        <p:blipFill>
          <a:blip r:embed="rId4">
            <a:alphaModFix/>
          </a:blip>
          <a:stretch>
            <a:fillRect/>
          </a:stretch>
        </p:blipFill>
        <p:spPr>
          <a:xfrm>
            <a:off x="670950" y="2002750"/>
            <a:ext cx="7551876" cy="20693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9"/>
          <p:cNvSpPr txBox="1"/>
          <p:nvPr>
            <p:ph type="ctrTitle"/>
          </p:nvPr>
        </p:nvSpPr>
        <p:spPr>
          <a:xfrm>
            <a:off x="311701" y="392100"/>
            <a:ext cx="3312000" cy="888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ru"/>
              <a:t>Autograd</a:t>
            </a:r>
            <a:endParaRPr/>
          </a:p>
        </p:txBody>
      </p:sp>
      <p:sp>
        <p:nvSpPr>
          <p:cNvPr id="249" name="Google Shape;249;p39"/>
          <p:cNvSpPr txBox="1"/>
          <p:nvPr>
            <p:ph idx="1" type="subTitle"/>
          </p:nvPr>
        </p:nvSpPr>
        <p:spPr>
          <a:xfrm>
            <a:off x="3858050" y="4559350"/>
            <a:ext cx="5198100" cy="471900"/>
          </a:xfrm>
          <a:prstGeom prst="rect">
            <a:avLst/>
          </a:prstGeom>
        </p:spPr>
        <p:txBody>
          <a:bodyPr anchorCtr="0" anchor="t" bIns="91425" lIns="91425" spcFirstLastPara="1" rIns="91425" wrap="square" tIns="91425">
            <a:normAutofit fontScale="77500"/>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source: </a:t>
            </a:r>
            <a:r>
              <a:rPr lang="ru" sz="1500" u="sng">
                <a:solidFill>
                  <a:schemeClr val="hlink"/>
                </a:solidFill>
                <a:highlight>
                  <a:srgbClr val="FFFFFF"/>
                </a:highlight>
                <a:latin typeface="Georgia"/>
                <a:ea typeface="Georgia"/>
                <a:cs typeface="Georgia"/>
                <a:sym typeface="Georgia"/>
                <a:hlinkClick r:id="rId3"/>
              </a:rPr>
              <a:t>https://cs231n.stanford.edu/slides/2016/winter1516_lecture4.pdf</a:t>
            </a:r>
            <a:endParaRPr sz="1500">
              <a:solidFill>
                <a:srgbClr val="444444"/>
              </a:solidFill>
              <a:highlight>
                <a:srgbClr val="FFFFFF"/>
              </a:highlight>
              <a:latin typeface="Georgia"/>
              <a:ea typeface="Georgia"/>
              <a:cs typeface="Georgia"/>
              <a:sym typeface="Georgia"/>
            </a:endParaRPr>
          </a:p>
        </p:txBody>
      </p:sp>
      <p:sp>
        <p:nvSpPr>
          <p:cNvPr id="250" name="Google Shape;250;p39"/>
          <p:cNvSpPr txBox="1"/>
          <p:nvPr>
            <p:ph idx="1" type="subTitle"/>
          </p:nvPr>
        </p:nvSpPr>
        <p:spPr>
          <a:xfrm>
            <a:off x="801550" y="1280400"/>
            <a:ext cx="2716800" cy="471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backpropagation</a:t>
            </a:r>
            <a:endParaRPr sz="1500">
              <a:solidFill>
                <a:srgbClr val="444444"/>
              </a:solidFill>
              <a:highlight>
                <a:srgbClr val="FFFFFF"/>
              </a:highlight>
              <a:latin typeface="Georgia"/>
              <a:ea typeface="Georgia"/>
              <a:cs typeface="Georgia"/>
              <a:sym typeface="Georgia"/>
            </a:endParaRPr>
          </a:p>
        </p:txBody>
      </p:sp>
      <p:pic>
        <p:nvPicPr>
          <p:cNvPr id="251" name="Google Shape;251;p39"/>
          <p:cNvPicPr preferRelativeResize="0"/>
          <p:nvPr/>
        </p:nvPicPr>
        <p:blipFill>
          <a:blip r:embed="rId4">
            <a:alphaModFix/>
          </a:blip>
          <a:stretch>
            <a:fillRect/>
          </a:stretch>
        </p:blipFill>
        <p:spPr>
          <a:xfrm>
            <a:off x="1069824" y="1700700"/>
            <a:ext cx="5747351" cy="273127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0"/>
          <p:cNvSpPr txBox="1"/>
          <p:nvPr>
            <p:ph type="ctrTitle"/>
          </p:nvPr>
        </p:nvSpPr>
        <p:spPr>
          <a:xfrm>
            <a:off x="311701" y="392100"/>
            <a:ext cx="3312000" cy="888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ru"/>
              <a:t>Autograd</a:t>
            </a:r>
            <a:endParaRPr/>
          </a:p>
        </p:txBody>
      </p:sp>
      <p:sp>
        <p:nvSpPr>
          <p:cNvPr id="257" name="Google Shape;257;p40"/>
          <p:cNvSpPr txBox="1"/>
          <p:nvPr>
            <p:ph idx="1" type="subTitle"/>
          </p:nvPr>
        </p:nvSpPr>
        <p:spPr>
          <a:xfrm>
            <a:off x="3858050" y="4559350"/>
            <a:ext cx="5198100" cy="471900"/>
          </a:xfrm>
          <a:prstGeom prst="rect">
            <a:avLst/>
          </a:prstGeom>
        </p:spPr>
        <p:txBody>
          <a:bodyPr anchorCtr="0" anchor="t" bIns="91425" lIns="91425" spcFirstLastPara="1" rIns="91425" wrap="square" tIns="91425">
            <a:normAutofit fontScale="77500"/>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source: </a:t>
            </a:r>
            <a:r>
              <a:rPr lang="ru" sz="1500" u="sng">
                <a:solidFill>
                  <a:schemeClr val="hlink"/>
                </a:solidFill>
                <a:highlight>
                  <a:srgbClr val="FFFFFF"/>
                </a:highlight>
                <a:latin typeface="Georgia"/>
                <a:ea typeface="Georgia"/>
                <a:cs typeface="Georgia"/>
                <a:sym typeface="Georgia"/>
                <a:hlinkClick r:id="rId3"/>
              </a:rPr>
              <a:t>https://cs231n.stanford.edu/slides/2016/winter1516_lecture4.pdf</a:t>
            </a:r>
            <a:endParaRPr sz="1500">
              <a:solidFill>
                <a:srgbClr val="444444"/>
              </a:solidFill>
              <a:highlight>
                <a:srgbClr val="FFFFFF"/>
              </a:highlight>
              <a:latin typeface="Georgia"/>
              <a:ea typeface="Georgia"/>
              <a:cs typeface="Georgia"/>
              <a:sym typeface="Georgia"/>
            </a:endParaRPr>
          </a:p>
        </p:txBody>
      </p:sp>
      <p:sp>
        <p:nvSpPr>
          <p:cNvPr id="258" name="Google Shape;258;p40"/>
          <p:cNvSpPr txBox="1"/>
          <p:nvPr>
            <p:ph idx="1" type="subTitle"/>
          </p:nvPr>
        </p:nvSpPr>
        <p:spPr>
          <a:xfrm>
            <a:off x="801550" y="1280400"/>
            <a:ext cx="2716800" cy="471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backpropagation</a:t>
            </a:r>
            <a:endParaRPr sz="1500">
              <a:solidFill>
                <a:srgbClr val="444444"/>
              </a:solidFill>
              <a:highlight>
                <a:srgbClr val="FFFFFF"/>
              </a:highlight>
              <a:latin typeface="Georgia"/>
              <a:ea typeface="Georgia"/>
              <a:cs typeface="Georgia"/>
              <a:sym typeface="Georgia"/>
            </a:endParaRPr>
          </a:p>
        </p:txBody>
      </p:sp>
      <p:pic>
        <p:nvPicPr>
          <p:cNvPr id="259" name="Google Shape;259;p40"/>
          <p:cNvPicPr preferRelativeResize="0"/>
          <p:nvPr/>
        </p:nvPicPr>
        <p:blipFill>
          <a:blip r:embed="rId4">
            <a:alphaModFix/>
          </a:blip>
          <a:stretch>
            <a:fillRect/>
          </a:stretch>
        </p:blipFill>
        <p:spPr>
          <a:xfrm>
            <a:off x="801541" y="1721325"/>
            <a:ext cx="5593409" cy="26741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1"/>
          <p:cNvSpPr txBox="1"/>
          <p:nvPr>
            <p:ph type="ctrTitle"/>
          </p:nvPr>
        </p:nvSpPr>
        <p:spPr>
          <a:xfrm>
            <a:off x="311701" y="392100"/>
            <a:ext cx="3312000" cy="888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ru"/>
              <a:t>Autograd</a:t>
            </a:r>
            <a:endParaRPr/>
          </a:p>
        </p:txBody>
      </p:sp>
      <p:sp>
        <p:nvSpPr>
          <p:cNvPr id="265" name="Google Shape;265;p41"/>
          <p:cNvSpPr txBox="1"/>
          <p:nvPr>
            <p:ph idx="1" type="subTitle"/>
          </p:nvPr>
        </p:nvSpPr>
        <p:spPr>
          <a:xfrm>
            <a:off x="3858050" y="4559350"/>
            <a:ext cx="5198100" cy="471900"/>
          </a:xfrm>
          <a:prstGeom prst="rect">
            <a:avLst/>
          </a:prstGeom>
        </p:spPr>
        <p:txBody>
          <a:bodyPr anchorCtr="0" anchor="t" bIns="91425" lIns="91425" spcFirstLastPara="1" rIns="91425" wrap="square" tIns="91425">
            <a:normAutofit fontScale="77500"/>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source: </a:t>
            </a:r>
            <a:r>
              <a:rPr lang="ru" sz="1500" u="sng">
                <a:solidFill>
                  <a:schemeClr val="hlink"/>
                </a:solidFill>
                <a:highlight>
                  <a:srgbClr val="FFFFFF"/>
                </a:highlight>
                <a:latin typeface="Georgia"/>
                <a:ea typeface="Georgia"/>
                <a:cs typeface="Georgia"/>
                <a:sym typeface="Georgia"/>
                <a:hlinkClick r:id="rId3"/>
              </a:rPr>
              <a:t>https://cs231n.stanford.edu/slides/2016/winter1516_lecture4.pdf</a:t>
            </a:r>
            <a:endParaRPr sz="1500">
              <a:solidFill>
                <a:srgbClr val="444444"/>
              </a:solidFill>
              <a:highlight>
                <a:srgbClr val="FFFFFF"/>
              </a:highlight>
              <a:latin typeface="Georgia"/>
              <a:ea typeface="Georgia"/>
              <a:cs typeface="Georgia"/>
              <a:sym typeface="Georgia"/>
            </a:endParaRPr>
          </a:p>
        </p:txBody>
      </p:sp>
      <p:sp>
        <p:nvSpPr>
          <p:cNvPr id="266" name="Google Shape;266;p41"/>
          <p:cNvSpPr txBox="1"/>
          <p:nvPr>
            <p:ph idx="1" type="subTitle"/>
          </p:nvPr>
        </p:nvSpPr>
        <p:spPr>
          <a:xfrm>
            <a:off x="801550" y="1280400"/>
            <a:ext cx="2716800" cy="471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backpropagation</a:t>
            </a:r>
            <a:endParaRPr sz="1500">
              <a:solidFill>
                <a:srgbClr val="444444"/>
              </a:solidFill>
              <a:highlight>
                <a:srgbClr val="FFFFFF"/>
              </a:highlight>
              <a:latin typeface="Georgia"/>
              <a:ea typeface="Georgia"/>
              <a:cs typeface="Georgia"/>
              <a:sym typeface="Georgia"/>
            </a:endParaRPr>
          </a:p>
        </p:txBody>
      </p:sp>
      <p:pic>
        <p:nvPicPr>
          <p:cNvPr id="267" name="Google Shape;267;p41"/>
          <p:cNvPicPr preferRelativeResize="0"/>
          <p:nvPr/>
        </p:nvPicPr>
        <p:blipFill>
          <a:blip r:embed="rId4">
            <a:alphaModFix/>
          </a:blip>
          <a:stretch>
            <a:fillRect/>
          </a:stretch>
        </p:blipFill>
        <p:spPr>
          <a:xfrm>
            <a:off x="801550" y="1752300"/>
            <a:ext cx="5271064" cy="250225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2"/>
          <p:cNvSpPr txBox="1"/>
          <p:nvPr>
            <p:ph type="ctrTitle"/>
          </p:nvPr>
        </p:nvSpPr>
        <p:spPr>
          <a:xfrm>
            <a:off x="311701" y="392100"/>
            <a:ext cx="3312000" cy="888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ru"/>
              <a:t>Autograd</a:t>
            </a:r>
            <a:endParaRPr/>
          </a:p>
        </p:txBody>
      </p:sp>
      <p:sp>
        <p:nvSpPr>
          <p:cNvPr id="273" name="Google Shape;273;p42"/>
          <p:cNvSpPr txBox="1"/>
          <p:nvPr>
            <p:ph idx="1" type="subTitle"/>
          </p:nvPr>
        </p:nvSpPr>
        <p:spPr>
          <a:xfrm>
            <a:off x="3858050" y="4559350"/>
            <a:ext cx="5198100" cy="471900"/>
          </a:xfrm>
          <a:prstGeom prst="rect">
            <a:avLst/>
          </a:prstGeom>
        </p:spPr>
        <p:txBody>
          <a:bodyPr anchorCtr="0" anchor="t" bIns="91425" lIns="91425" spcFirstLastPara="1" rIns="91425" wrap="square" tIns="91425">
            <a:normAutofit fontScale="77500"/>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source: </a:t>
            </a:r>
            <a:r>
              <a:rPr lang="ru" sz="1500" u="sng">
                <a:solidFill>
                  <a:schemeClr val="hlink"/>
                </a:solidFill>
                <a:highlight>
                  <a:srgbClr val="FFFFFF"/>
                </a:highlight>
                <a:latin typeface="Georgia"/>
                <a:ea typeface="Georgia"/>
                <a:cs typeface="Georgia"/>
                <a:sym typeface="Georgia"/>
                <a:hlinkClick r:id="rId3"/>
              </a:rPr>
              <a:t>https://cs231n.stanford.edu/slides/2016/winter1516_lecture4.pdf</a:t>
            </a:r>
            <a:endParaRPr sz="1500">
              <a:solidFill>
                <a:srgbClr val="444444"/>
              </a:solidFill>
              <a:highlight>
                <a:srgbClr val="FFFFFF"/>
              </a:highlight>
              <a:latin typeface="Georgia"/>
              <a:ea typeface="Georgia"/>
              <a:cs typeface="Georgia"/>
              <a:sym typeface="Georgia"/>
            </a:endParaRPr>
          </a:p>
        </p:txBody>
      </p:sp>
      <p:sp>
        <p:nvSpPr>
          <p:cNvPr id="274" name="Google Shape;274;p42"/>
          <p:cNvSpPr txBox="1"/>
          <p:nvPr>
            <p:ph idx="1" type="subTitle"/>
          </p:nvPr>
        </p:nvSpPr>
        <p:spPr>
          <a:xfrm>
            <a:off x="801550" y="1280400"/>
            <a:ext cx="2716800" cy="471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backpropagation</a:t>
            </a:r>
            <a:endParaRPr sz="1500">
              <a:solidFill>
                <a:srgbClr val="444444"/>
              </a:solidFill>
              <a:highlight>
                <a:srgbClr val="FFFFFF"/>
              </a:highlight>
              <a:latin typeface="Georgia"/>
              <a:ea typeface="Georgia"/>
              <a:cs typeface="Georgia"/>
              <a:sym typeface="Georgia"/>
            </a:endParaRPr>
          </a:p>
        </p:txBody>
      </p:sp>
      <p:pic>
        <p:nvPicPr>
          <p:cNvPr id="275" name="Google Shape;275;p42"/>
          <p:cNvPicPr preferRelativeResize="0"/>
          <p:nvPr/>
        </p:nvPicPr>
        <p:blipFill>
          <a:blip r:embed="rId4">
            <a:alphaModFix/>
          </a:blip>
          <a:stretch>
            <a:fillRect/>
          </a:stretch>
        </p:blipFill>
        <p:spPr>
          <a:xfrm>
            <a:off x="780900" y="1776913"/>
            <a:ext cx="5734975" cy="27578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3"/>
          <p:cNvSpPr txBox="1"/>
          <p:nvPr>
            <p:ph type="ctrTitle"/>
          </p:nvPr>
        </p:nvSpPr>
        <p:spPr>
          <a:xfrm>
            <a:off x="311701" y="392100"/>
            <a:ext cx="3312000" cy="888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ru"/>
              <a:t>Autograd</a:t>
            </a:r>
            <a:endParaRPr/>
          </a:p>
        </p:txBody>
      </p:sp>
      <p:sp>
        <p:nvSpPr>
          <p:cNvPr id="281" name="Google Shape;281;p43"/>
          <p:cNvSpPr txBox="1"/>
          <p:nvPr>
            <p:ph idx="1" type="subTitle"/>
          </p:nvPr>
        </p:nvSpPr>
        <p:spPr>
          <a:xfrm>
            <a:off x="3858050" y="4559350"/>
            <a:ext cx="5198100" cy="471900"/>
          </a:xfrm>
          <a:prstGeom prst="rect">
            <a:avLst/>
          </a:prstGeom>
        </p:spPr>
        <p:txBody>
          <a:bodyPr anchorCtr="0" anchor="t" bIns="91425" lIns="91425" spcFirstLastPara="1" rIns="91425" wrap="square" tIns="91425">
            <a:normAutofit fontScale="77500"/>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source: </a:t>
            </a:r>
            <a:r>
              <a:rPr lang="ru" sz="1500" u="sng">
                <a:solidFill>
                  <a:schemeClr val="hlink"/>
                </a:solidFill>
                <a:highlight>
                  <a:srgbClr val="FFFFFF"/>
                </a:highlight>
                <a:latin typeface="Georgia"/>
                <a:ea typeface="Georgia"/>
                <a:cs typeface="Georgia"/>
                <a:sym typeface="Georgia"/>
                <a:hlinkClick r:id="rId3"/>
              </a:rPr>
              <a:t>https://cs231n.stanford.edu/slides/2016/winter1516_lecture4.pdf</a:t>
            </a:r>
            <a:endParaRPr sz="1500">
              <a:solidFill>
                <a:srgbClr val="444444"/>
              </a:solidFill>
              <a:highlight>
                <a:srgbClr val="FFFFFF"/>
              </a:highlight>
              <a:latin typeface="Georgia"/>
              <a:ea typeface="Georgia"/>
              <a:cs typeface="Georgia"/>
              <a:sym typeface="Georgia"/>
            </a:endParaRPr>
          </a:p>
        </p:txBody>
      </p:sp>
      <p:sp>
        <p:nvSpPr>
          <p:cNvPr id="282" name="Google Shape;282;p43"/>
          <p:cNvSpPr txBox="1"/>
          <p:nvPr>
            <p:ph idx="1" type="subTitle"/>
          </p:nvPr>
        </p:nvSpPr>
        <p:spPr>
          <a:xfrm>
            <a:off x="801550" y="1280400"/>
            <a:ext cx="2716800" cy="471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backpropagation</a:t>
            </a:r>
            <a:endParaRPr sz="1500">
              <a:solidFill>
                <a:srgbClr val="444444"/>
              </a:solidFill>
              <a:highlight>
                <a:srgbClr val="FFFFFF"/>
              </a:highlight>
              <a:latin typeface="Georgia"/>
              <a:ea typeface="Georgia"/>
              <a:cs typeface="Georgia"/>
              <a:sym typeface="Georgia"/>
            </a:endParaRPr>
          </a:p>
        </p:txBody>
      </p:sp>
      <p:pic>
        <p:nvPicPr>
          <p:cNvPr id="283" name="Google Shape;283;p43"/>
          <p:cNvPicPr preferRelativeResize="0"/>
          <p:nvPr/>
        </p:nvPicPr>
        <p:blipFill>
          <a:blip r:embed="rId4">
            <a:alphaModFix/>
          </a:blip>
          <a:stretch>
            <a:fillRect/>
          </a:stretch>
        </p:blipFill>
        <p:spPr>
          <a:xfrm>
            <a:off x="801550" y="1822150"/>
            <a:ext cx="5279191" cy="250225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4"/>
          <p:cNvSpPr txBox="1"/>
          <p:nvPr>
            <p:ph type="ctrTitle"/>
          </p:nvPr>
        </p:nvSpPr>
        <p:spPr>
          <a:xfrm>
            <a:off x="311701" y="392100"/>
            <a:ext cx="3312000" cy="888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ru"/>
              <a:t>Autograd</a:t>
            </a:r>
            <a:endParaRPr/>
          </a:p>
        </p:txBody>
      </p:sp>
      <p:sp>
        <p:nvSpPr>
          <p:cNvPr id="289" name="Google Shape;289;p44"/>
          <p:cNvSpPr txBox="1"/>
          <p:nvPr>
            <p:ph idx="1" type="subTitle"/>
          </p:nvPr>
        </p:nvSpPr>
        <p:spPr>
          <a:xfrm>
            <a:off x="3858050" y="4559350"/>
            <a:ext cx="5198100" cy="471900"/>
          </a:xfrm>
          <a:prstGeom prst="rect">
            <a:avLst/>
          </a:prstGeom>
        </p:spPr>
        <p:txBody>
          <a:bodyPr anchorCtr="0" anchor="t" bIns="91425" lIns="91425" spcFirstLastPara="1" rIns="91425" wrap="square" tIns="91425">
            <a:normAutofit fontScale="77500"/>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source: </a:t>
            </a:r>
            <a:r>
              <a:rPr lang="ru" sz="1500" u="sng">
                <a:solidFill>
                  <a:schemeClr val="hlink"/>
                </a:solidFill>
                <a:highlight>
                  <a:srgbClr val="FFFFFF"/>
                </a:highlight>
                <a:latin typeface="Georgia"/>
                <a:ea typeface="Georgia"/>
                <a:cs typeface="Georgia"/>
                <a:sym typeface="Georgia"/>
                <a:hlinkClick r:id="rId3"/>
              </a:rPr>
              <a:t>https://cs231n.stanford.edu/slides/2016/winter1516_lecture4.pdf</a:t>
            </a:r>
            <a:endParaRPr sz="1500">
              <a:solidFill>
                <a:srgbClr val="444444"/>
              </a:solidFill>
              <a:highlight>
                <a:srgbClr val="FFFFFF"/>
              </a:highlight>
              <a:latin typeface="Georgia"/>
              <a:ea typeface="Georgia"/>
              <a:cs typeface="Georgia"/>
              <a:sym typeface="Georgia"/>
            </a:endParaRPr>
          </a:p>
        </p:txBody>
      </p:sp>
      <p:sp>
        <p:nvSpPr>
          <p:cNvPr id="290" name="Google Shape;290;p44"/>
          <p:cNvSpPr txBox="1"/>
          <p:nvPr>
            <p:ph idx="1" type="subTitle"/>
          </p:nvPr>
        </p:nvSpPr>
        <p:spPr>
          <a:xfrm>
            <a:off x="801550" y="1280400"/>
            <a:ext cx="2716800" cy="471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backpropagation</a:t>
            </a:r>
            <a:endParaRPr sz="1500">
              <a:solidFill>
                <a:srgbClr val="444444"/>
              </a:solidFill>
              <a:highlight>
                <a:srgbClr val="FFFFFF"/>
              </a:highlight>
              <a:latin typeface="Georgia"/>
              <a:ea typeface="Georgia"/>
              <a:cs typeface="Georgia"/>
              <a:sym typeface="Georgia"/>
            </a:endParaRPr>
          </a:p>
        </p:txBody>
      </p:sp>
      <p:pic>
        <p:nvPicPr>
          <p:cNvPr id="291" name="Google Shape;291;p44"/>
          <p:cNvPicPr preferRelativeResize="0"/>
          <p:nvPr/>
        </p:nvPicPr>
        <p:blipFill>
          <a:blip r:embed="rId4">
            <a:alphaModFix/>
          </a:blip>
          <a:stretch>
            <a:fillRect/>
          </a:stretch>
        </p:blipFill>
        <p:spPr>
          <a:xfrm>
            <a:off x="801550" y="1796350"/>
            <a:ext cx="5256435" cy="2502251"/>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5"/>
          <p:cNvSpPr txBox="1"/>
          <p:nvPr>
            <p:ph type="ctrTitle"/>
          </p:nvPr>
        </p:nvSpPr>
        <p:spPr>
          <a:xfrm>
            <a:off x="311701" y="392100"/>
            <a:ext cx="3312000" cy="888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ru"/>
              <a:t>Autograd</a:t>
            </a:r>
            <a:endParaRPr/>
          </a:p>
        </p:txBody>
      </p:sp>
      <p:sp>
        <p:nvSpPr>
          <p:cNvPr id="297" name="Google Shape;297;p45"/>
          <p:cNvSpPr txBox="1"/>
          <p:nvPr>
            <p:ph idx="1" type="subTitle"/>
          </p:nvPr>
        </p:nvSpPr>
        <p:spPr>
          <a:xfrm>
            <a:off x="3858050" y="4559350"/>
            <a:ext cx="5198100" cy="471900"/>
          </a:xfrm>
          <a:prstGeom prst="rect">
            <a:avLst/>
          </a:prstGeom>
        </p:spPr>
        <p:txBody>
          <a:bodyPr anchorCtr="0" anchor="t" bIns="91425" lIns="91425" spcFirstLastPara="1" rIns="91425" wrap="square" tIns="91425">
            <a:normAutofit fontScale="77500"/>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source: </a:t>
            </a:r>
            <a:r>
              <a:rPr lang="ru" sz="1500" u="sng">
                <a:solidFill>
                  <a:schemeClr val="hlink"/>
                </a:solidFill>
                <a:highlight>
                  <a:srgbClr val="FFFFFF"/>
                </a:highlight>
                <a:latin typeface="Georgia"/>
                <a:ea typeface="Georgia"/>
                <a:cs typeface="Georgia"/>
                <a:sym typeface="Georgia"/>
                <a:hlinkClick r:id="rId3"/>
              </a:rPr>
              <a:t>https://cs231n.stanford.edu/slides/2016/winter1516_lecture4.pdf</a:t>
            </a:r>
            <a:endParaRPr sz="1500">
              <a:solidFill>
                <a:srgbClr val="444444"/>
              </a:solidFill>
              <a:highlight>
                <a:srgbClr val="FFFFFF"/>
              </a:highlight>
              <a:latin typeface="Georgia"/>
              <a:ea typeface="Georgia"/>
              <a:cs typeface="Georgia"/>
              <a:sym typeface="Georgia"/>
            </a:endParaRPr>
          </a:p>
        </p:txBody>
      </p:sp>
      <p:sp>
        <p:nvSpPr>
          <p:cNvPr id="298" name="Google Shape;298;p45"/>
          <p:cNvSpPr txBox="1"/>
          <p:nvPr>
            <p:ph idx="1" type="subTitle"/>
          </p:nvPr>
        </p:nvSpPr>
        <p:spPr>
          <a:xfrm>
            <a:off x="801550" y="1280400"/>
            <a:ext cx="2716800" cy="471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backpropagation</a:t>
            </a:r>
            <a:endParaRPr sz="1500">
              <a:solidFill>
                <a:srgbClr val="444444"/>
              </a:solidFill>
              <a:highlight>
                <a:srgbClr val="FFFFFF"/>
              </a:highlight>
              <a:latin typeface="Georgia"/>
              <a:ea typeface="Georgia"/>
              <a:cs typeface="Georgia"/>
              <a:sym typeface="Georgia"/>
            </a:endParaRPr>
          </a:p>
        </p:txBody>
      </p:sp>
      <p:pic>
        <p:nvPicPr>
          <p:cNvPr id="299" name="Google Shape;299;p45"/>
          <p:cNvPicPr preferRelativeResize="0"/>
          <p:nvPr/>
        </p:nvPicPr>
        <p:blipFill>
          <a:blip r:embed="rId4">
            <a:alphaModFix/>
          </a:blip>
          <a:stretch>
            <a:fillRect/>
          </a:stretch>
        </p:blipFill>
        <p:spPr>
          <a:xfrm>
            <a:off x="801550" y="1827325"/>
            <a:ext cx="5164577" cy="25022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6"/>
          <p:cNvSpPr txBox="1"/>
          <p:nvPr>
            <p:ph type="ctrTitle"/>
          </p:nvPr>
        </p:nvSpPr>
        <p:spPr>
          <a:xfrm>
            <a:off x="311701" y="392100"/>
            <a:ext cx="3312000" cy="888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ru"/>
              <a:t>Autograd</a:t>
            </a:r>
            <a:endParaRPr/>
          </a:p>
        </p:txBody>
      </p:sp>
      <p:sp>
        <p:nvSpPr>
          <p:cNvPr id="305" name="Google Shape;305;p46"/>
          <p:cNvSpPr txBox="1"/>
          <p:nvPr>
            <p:ph idx="1" type="subTitle"/>
          </p:nvPr>
        </p:nvSpPr>
        <p:spPr>
          <a:xfrm>
            <a:off x="3858050" y="4559350"/>
            <a:ext cx="5198100" cy="471900"/>
          </a:xfrm>
          <a:prstGeom prst="rect">
            <a:avLst/>
          </a:prstGeom>
        </p:spPr>
        <p:txBody>
          <a:bodyPr anchorCtr="0" anchor="t" bIns="91425" lIns="91425" spcFirstLastPara="1" rIns="91425" wrap="square" tIns="91425">
            <a:normAutofit fontScale="77500"/>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source: </a:t>
            </a:r>
            <a:r>
              <a:rPr lang="ru" sz="1500" u="sng">
                <a:solidFill>
                  <a:schemeClr val="hlink"/>
                </a:solidFill>
                <a:highlight>
                  <a:srgbClr val="FFFFFF"/>
                </a:highlight>
                <a:latin typeface="Georgia"/>
                <a:ea typeface="Georgia"/>
                <a:cs typeface="Georgia"/>
                <a:sym typeface="Georgia"/>
                <a:hlinkClick r:id="rId3"/>
              </a:rPr>
              <a:t>https://cs231n.stanford.edu/slides/2016/winter1516_lecture4.pdf</a:t>
            </a:r>
            <a:endParaRPr sz="1500">
              <a:solidFill>
                <a:srgbClr val="444444"/>
              </a:solidFill>
              <a:highlight>
                <a:srgbClr val="FFFFFF"/>
              </a:highlight>
              <a:latin typeface="Georgia"/>
              <a:ea typeface="Georgia"/>
              <a:cs typeface="Georgia"/>
              <a:sym typeface="Georgia"/>
            </a:endParaRPr>
          </a:p>
        </p:txBody>
      </p:sp>
      <p:sp>
        <p:nvSpPr>
          <p:cNvPr id="306" name="Google Shape;306;p46"/>
          <p:cNvSpPr txBox="1"/>
          <p:nvPr>
            <p:ph idx="1" type="subTitle"/>
          </p:nvPr>
        </p:nvSpPr>
        <p:spPr>
          <a:xfrm>
            <a:off x="801550" y="1280400"/>
            <a:ext cx="2716800" cy="471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backpropagation</a:t>
            </a:r>
            <a:endParaRPr sz="1500">
              <a:solidFill>
                <a:srgbClr val="444444"/>
              </a:solidFill>
              <a:highlight>
                <a:srgbClr val="FFFFFF"/>
              </a:highlight>
              <a:latin typeface="Georgia"/>
              <a:ea typeface="Georgia"/>
              <a:cs typeface="Georgia"/>
              <a:sym typeface="Georgia"/>
            </a:endParaRPr>
          </a:p>
        </p:txBody>
      </p:sp>
      <p:pic>
        <p:nvPicPr>
          <p:cNvPr id="307" name="Google Shape;307;p46"/>
          <p:cNvPicPr preferRelativeResize="0"/>
          <p:nvPr/>
        </p:nvPicPr>
        <p:blipFill>
          <a:blip r:embed="rId4">
            <a:alphaModFix/>
          </a:blip>
          <a:stretch>
            <a:fillRect/>
          </a:stretch>
        </p:blipFill>
        <p:spPr>
          <a:xfrm>
            <a:off x="801550" y="1827350"/>
            <a:ext cx="5292561" cy="2502251"/>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7"/>
          <p:cNvSpPr txBox="1"/>
          <p:nvPr>
            <p:ph type="ctrTitle"/>
          </p:nvPr>
        </p:nvSpPr>
        <p:spPr>
          <a:xfrm>
            <a:off x="311701" y="392100"/>
            <a:ext cx="3312000" cy="888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ru"/>
              <a:t>Autograd</a:t>
            </a:r>
            <a:endParaRPr/>
          </a:p>
        </p:txBody>
      </p:sp>
      <p:sp>
        <p:nvSpPr>
          <p:cNvPr id="313" name="Google Shape;313;p47"/>
          <p:cNvSpPr txBox="1"/>
          <p:nvPr>
            <p:ph idx="1" type="subTitle"/>
          </p:nvPr>
        </p:nvSpPr>
        <p:spPr>
          <a:xfrm>
            <a:off x="3858050" y="4559350"/>
            <a:ext cx="5198100" cy="471900"/>
          </a:xfrm>
          <a:prstGeom prst="rect">
            <a:avLst/>
          </a:prstGeom>
        </p:spPr>
        <p:txBody>
          <a:bodyPr anchorCtr="0" anchor="t" bIns="91425" lIns="91425" spcFirstLastPara="1" rIns="91425" wrap="square" tIns="91425">
            <a:normAutofit fontScale="77500"/>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source: </a:t>
            </a:r>
            <a:r>
              <a:rPr lang="ru" sz="1500" u="sng">
                <a:solidFill>
                  <a:schemeClr val="hlink"/>
                </a:solidFill>
                <a:highlight>
                  <a:srgbClr val="FFFFFF"/>
                </a:highlight>
                <a:latin typeface="Georgia"/>
                <a:ea typeface="Georgia"/>
                <a:cs typeface="Georgia"/>
                <a:sym typeface="Georgia"/>
                <a:hlinkClick r:id="rId3"/>
              </a:rPr>
              <a:t>https://cs231n.stanford.edu/slides/2016/winter1516_lecture4.pdf</a:t>
            </a:r>
            <a:endParaRPr sz="1500">
              <a:solidFill>
                <a:srgbClr val="444444"/>
              </a:solidFill>
              <a:highlight>
                <a:srgbClr val="FFFFFF"/>
              </a:highlight>
              <a:latin typeface="Georgia"/>
              <a:ea typeface="Georgia"/>
              <a:cs typeface="Georgia"/>
              <a:sym typeface="Georgia"/>
            </a:endParaRPr>
          </a:p>
        </p:txBody>
      </p:sp>
      <p:sp>
        <p:nvSpPr>
          <p:cNvPr id="314" name="Google Shape;314;p47"/>
          <p:cNvSpPr txBox="1"/>
          <p:nvPr>
            <p:ph idx="1" type="subTitle"/>
          </p:nvPr>
        </p:nvSpPr>
        <p:spPr>
          <a:xfrm>
            <a:off x="801550" y="1280400"/>
            <a:ext cx="2716800" cy="471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backpropagation</a:t>
            </a:r>
            <a:endParaRPr sz="1500">
              <a:solidFill>
                <a:srgbClr val="444444"/>
              </a:solidFill>
              <a:highlight>
                <a:srgbClr val="FFFFFF"/>
              </a:highlight>
              <a:latin typeface="Georgia"/>
              <a:ea typeface="Georgia"/>
              <a:cs typeface="Georgia"/>
              <a:sym typeface="Georgia"/>
            </a:endParaRPr>
          </a:p>
        </p:txBody>
      </p:sp>
      <p:pic>
        <p:nvPicPr>
          <p:cNvPr id="315" name="Google Shape;315;p47"/>
          <p:cNvPicPr preferRelativeResize="0"/>
          <p:nvPr/>
        </p:nvPicPr>
        <p:blipFill>
          <a:blip r:embed="rId4">
            <a:alphaModFix/>
          </a:blip>
          <a:stretch>
            <a:fillRect/>
          </a:stretch>
        </p:blipFill>
        <p:spPr>
          <a:xfrm>
            <a:off x="801550" y="1863400"/>
            <a:ext cx="5274899" cy="2502251"/>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8"/>
          <p:cNvSpPr txBox="1"/>
          <p:nvPr>
            <p:ph type="ctrTitle"/>
          </p:nvPr>
        </p:nvSpPr>
        <p:spPr>
          <a:xfrm>
            <a:off x="311701" y="392100"/>
            <a:ext cx="3312000" cy="888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ru"/>
              <a:t>Autograd</a:t>
            </a:r>
            <a:endParaRPr/>
          </a:p>
        </p:txBody>
      </p:sp>
      <p:sp>
        <p:nvSpPr>
          <p:cNvPr id="321" name="Google Shape;321;p48"/>
          <p:cNvSpPr txBox="1"/>
          <p:nvPr>
            <p:ph idx="1" type="subTitle"/>
          </p:nvPr>
        </p:nvSpPr>
        <p:spPr>
          <a:xfrm>
            <a:off x="3858050" y="4559350"/>
            <a:ext cx="5198100" cy="471900"/>
          </a:xfrm>
          <a:prstGeom prst="rect">
            <a:avLst/>
          </a:prstGeom>
        </p:spPr>
        <p:txBody>
          <a:bodyPr anchorCtr="0" anchor="t" bIns="91425" lIns="91425" spcFirstLastPara="1" rIns="91425" wrap="square" tIns="91425">
            <a:normAutofit fontScale="77500"/>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source: </a:t>
            </a:r>
            <a:r>
              <a:rPr lang="ru" sz="1500" u="sng">
                <a:solidFill>
                  <a:schemeClr val="hlink"/>
                </a:solidFill>
                <a:highlight>
                  <a:srgbClr val="FFFFFF"/>
                </a:highlight>
                <a:latin typeface="Georgia"/>
                <a:ea typeface="Georgia"/>
                <a:cs typeface="Georgia"/>
                <a:sym typeface="Georgia"/>
                <a:hlinkClick r:id="rId3"/>
              </a:rPr>
              <a:t>https://cs231n.stanford.edu/slides/2016/winter1516_lecture4.pdf</a:t>
            </a:r>
            <a:endParaRPr sz="1500">
              <a:solidFill>
                <a:srgbClr val="444444"/>
              </a:solidFill>
              <a:highlight>
                <a:srgbClr val="FFFFFF"/>
              </a:highlight>
              <a:latin typeface="Georgia"/>
              <a:ea typeface="Georgia"/>
              <a:cs typeface="Georgia"/>
              <a:sym typeface="Georgia"/>
            </a:endParaRPr>
          </a:p>
        </p:txBody>
      </p:sp>
      <p:sp>
        <p:nvSpPr>
          <p:cNvPr id="322" name="Google Shape;322;p48"/>
          <p:cNvSpPr txBox="1"/>
          <p:nvPr>
            <p:ph idx="1" type="subTitle"/>
          </p:nvPr>
        </p:nvSpPr>
        <p:spPr>
          <a:xfrm>
            <a:off x="801550" y="1280400"/>
            <a:ext cx="2716800" cy="471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backpropagation</a:t>
            </a:r>
            <a:endParaRPr sz="1500">
              <a:solidFill>
                <a:srgbClr val="444444"/>
              </a:solidFill>
              <a:highlight>
                <a:srgbClr val="FFFFFF"/>
              </a:highlight>
              <a:latin typeface="Georgia"/>
              <a:ea typeface="Georgia"/>
              <a:cs typeface="Georgia"/>
              <a:sym typeface="Georgia"/>
            </a:endParaRPr>
          </a:p>
        </p:txBody>
      </p:sp>
      <p:pic>
        <p:nvPicPr>
          <p:cNvPr id="323" name="Google Shape;323;p48"/>
          <p:cNvPicPr preferRelativeResize="0"/>
          <p:nvPr/>
        </p:nvPicPr>
        <p:blipFill>
          <a:blip r:embed="rId4">
            <a:alphaModFix/>
          </a:blip>
          <a:stretch>
            <a:fillRect/>
          </a:stretch>
        </p:blipFill>
        <p:spPr>
          <a:xfrm>
            <a:off x="801550" y="1878925"/>
            <a:ext cx="5274435" cy="25022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type="ctrTitle"/>
          </p:nvPr>
        </p:nvSpPr>
        <p:spPr>
          <a:xfrm>
            <a:off x="311701" y="392100"/>
            <a:ext cx="3312000" cy="888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ru"/>
              <a:t>Autograd</a:t>
            </a:r>
            <a:endParaRPr/>
          </a:p>
        </p:txBody>
      </p:sp>
      <p:sp>
        <p:nvSpPr>
          <p:cNvPr id="329" name="Google Shape;329;p49"/>
          <p:cNvSpPr txBox="1"/>
          <p:nvPr>
            <p:ph idx="1" type="subTitle"/>
          </p:nvPr>
        </p:nvSpPr>
        <p:spPr>
          <a:xfrm>
            <a:off x="3858050" y="4559350"/>
            <a:ext cx="5198100" cy="471900"/>
          </a:xfrm>
          <a:prstGeom prst="rect">
            <a:avLst/>
          </a:prstGeom>
        </p:spPr>
        <p:txBody>
          <a:bodyPr anchorCtr="0" anchor="t" bIns="91425" lIns="91425" spcFirstLastPara="1" rIns="91425" wrap="square" tIns="91425">
            <a:normAutofit fontScale="77500"/>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source: </a:t>
            </a:r>
            <a:r>
              <a:rPr lang="ru" sz="1500" u="sng">
                <a:solidFill>
                  <a:schemeClr val="hlink"/>
                </a:solidFill>
                <a:highlight>
                  <a:srgbClr val="FFFFFF"/>
                </a:highlight>
                <a:latin typeface="Georgia"/>
                <a:ea typeface="Georgia"/>
                <a:cs typeface="Georgia"/>
                <a:sym typeface="Georgia"/>
                <a:hlinkClick r:id="rId3"/>
              </a:rPr>
              <a:t>https://cs231n.stanford.edu/slides/2016/winter1516_lecture4.pdf</a:t>
            </a:r>
            <a:endParaRPr sz="1500">
              <a:solidFill>
                <a:srgbClr val="444444"/>
              </a:solidFill>
              <a:highlight>
                <a:srgbClr val="FFFFFF"/>
              </a:highlight>
              <a:latin typeface="Georgia"/>
              <a:ea typeface="Georgia"/>
              <a:cs typeface="Georgia"/>
              <a:sym typeface="Georgia"/>
            </a:endParaRPr>
          </a:p>
        </p:txBody>
      </p:sp>
      <p:sp>
        <p:nvSpPr>
          <p:cNvPr id="330" name="Google Shape;330;p49"/>
          <p:cNvSpPr txBox="1"/>
          <p:nvPr>
            <p:ph idx="1" type="subTitle"/>
          </p:nvPr>
        </p:nvSpPr>
        <p:spPr>
          <a:xfrm>
            <a:off x="801550" y="1280400"/>
            <a:ext cx="2716800" cy="471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backpropagation</a:t>
            </a:r>
            <a:endParaRPr sz="1500">
              <a:solidFill>
                <a:srgbClr val="444444"/>
              </a:solidFill>
              <a:highlight>
                <a:srgbClr val="FFFFFF"/>
              </a:highlight>
              <a:latin typeface="Georgia"/>
              <a:ea typeface="Georgia"/>
              <a:cs typeface="Georgia"/>
              <a:sym typeface="Georgia"/>
            </a:endParaRPr>
          </a:p>
        </p:txBody>
      </p:sp>
      <p:pic>
        <p:nvPicPr>
          <p:cNvPr id="331" name="Google Shape;331;p49"/>
          <p:cNvPicPr preferRelativeResize="0"/>
          <p:nvPr/>
        </p:nvPicPr>
        <p:blipFill>
          <a:blip r:embed="rId4">
            <a:alphaModFix/>
          </a:blip>
          <a:stretch>
            <a:fillRect/>
          </a:stretch>
        </p:blipFill>
        <p:spPr>
          <a:xfrm>
            <a:off x="801550" y="1827300"/>
            <a:ext cx="5265866" cy="25022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pic>
        <p:nvPicPr>
          <p:cNvPr id="336" name="Google Shape;336;p50"/>
          <p:cNvPicPr preferRelativeResize="0"/>
          <p:nvPr/>
        </p:nvPicPr>
        <p:blipFill>
          <a:blip r:embed="rId3">
            <a:alphaModFix/>
          </a:blip>
          <a:stretch>
            <a:fillRect/>
          </a:stretch>
        </p:blipFill>
        <p:spPr>
          <a:xfrm>
            <a:off x="0" y="0"/>
            <a:ext cx="9139127" cy="5143499"/>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1"/>
          <p:cNvSpPr txBox="1"/>
          <p:nvPr>
            <p:ph type="ctrTitle"/>
          </p:nvPr>
        </p:nvSpPr>
        <p:spPr>
          <a:xfrm>
            <a:off x="311701" y="392100"/>
            <a:ext cx="3312000" cy="888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ru"/>
              <a:t>Autograd</a:t>
            </a:r>
            <a:endParaRPr/>
          </a:p>
        </p:txBody>
      </p:sp>
      <p:sp>
        <p:nvSpPr>
          <p:cNvPr id="342" name="Google Shape;342;p51"/>
          <p:cNvSpPr txBox="1"/>
          <p:nvPr>
            <p:ph idx="1" type="subTitle"/>
          </p:nvPr>
        </p:nvSpPr>
        <p:spPr>
          <a:xfrm>
            <a:off x="3858050" y="4559350"/>
            <a:ext cx="5198100" cy="471900"/>
          </a:xfrm>
          <a:prstGeom prst="rect">
            <a:avLst/>
          </a:prstGeom>
        </p:spPr>
        <p:txBody>
          <a:bodyPr anchorCtr="0" anchor="t" bIns="91425" lIns="91425" spcFirstLastPara="1" rIns="91425" wrap="square" tIns="91425">
            <a:normAutofit fontScale="77500"/>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source: </a:t>
            </a:r>
            <a:r>
              <a:rPr lang="ru" sz="1500" u="sng">
                <a:solidFill>
                  <a:schemeClr val="hlink"/>
                </a:solidFill>
                <a:highlight>
                  <a:srgbClr val="FFFFFF"/>
                </a:highlight>
                <a:latin typeface="Georgia"/>
                <a:ea typeface="Georgia"/>
                <a:cs typeface="Georgia"/>
                <a:sym typeface="Georgia"/>
                <a:hlinkClick r:id="rId3"/>
              </a:rPr>
              <a:t>https://cs231n.stanford.edu/slides/2016/winter1516_lecture4.pdf</a:t>
            </a:r>
            <a:endParaRPr sz="1500">
              <a:solidFill>
                <a:srgbClr val="444444"/>
              </a:solidFill>
              <a:highlight>
                <a:srgbClr val="FFFFFF"/>
              </a:highlight>
              <a:latin typeface="Georgia"/>
              <a:ea typeface="Georgia"/>
              <a:cs typeface="Georgia"/>
              <a:sym typeface="Georgia"/>
            </a:endParaRPr>
          </a:p>
        </p:txBody>
      </p:sp>
      <p:sp>
        <p:nvSpPr>
          <p:cNvPr id="343" name="Google Shape;343;p51"/>
          <p:cNvSpPr txBox="1"/>
          <p:nvPr>
            <p:ph idx="1" type="subTitle"/>
          </p:nvPr>
        </p:nvSpPr>
        <p:spPr>
          <a:xfrm>
            <a:off x="680975" y="1280400"/>
            <a:ext cx="7702500" cy="6129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ru" sz="1500">
                <a:solidFill>
                  <a:srgbClr val="444444"/>
                </a:solidFill>
                <a:highlight>
                  <a:srgbClr val="FFFFFF"/>
                </a:highlight>
                <a:latin typeface="Georgia"/>
                <a:ea typeface="Georgia"/>
                <a:cs typeface="Georgia"/>
                <a:sym typeface="Georgia"/>
              </a:rPr>
              <a:t>torch autograd: </a:t>
            </a:r>
            <a:r>
              <a:rPr lang="ru" sz="1500" u="sng">
                <a:solidFill>
                  <a:schemeClr val="hlink"/>
                </a:solidFill>
                <a:highlight>
                  <a:srgbClr val="FFFFFF"/>
                </a:highlight>
                <a:latin typeface="Georgia"/>
                <a:ea typeface="Georgia"/>
                <a:cs typeface="Georgia"/>
                <a:sym typeface="Georgia"/>
                <a:hlinkClick r:id="rId4"/>
              </a:rPr>
              <a:t>diagrams</a:t>
            </a:r>
            <a:endParaRPr sz="1500">
              <a:solidFill>
                <a:srgbClr val="444444"/>
              </a:solidFill>
              <a:highlight>
                <a:srgbClr val="FFFFFF"/>
              </a:highlight>
              <a:latin typeface="Georgia"/>
              <a:ea typeface="Georgia"/>
              <a:cs typeface="Georgia"/>
              <a:sym typeface="Georgia"/>
            </a:endParaRPr>
          </a:p>
          <a:p>
            <a:pPr indent="0" lvl="0" marL="0" rtl="0" algn="ctr">
              <a:spcBef>
                <a:spcPts val="0"/>
              </a:spcBef>
              <a:spcAft>
                <a:spcPts val="0"/>
              </a:spcAft>
              <a:buNone/>
            </a:pPr>
            <a:r>
              <a:t/>
            </a:r>
            <a:endParaRPr sz="1500">
              <a:solidFill>
                <a:srgbClr val="444444"/>
              </a:solidFill>
              <a:highlight>
                <a:srgbClr val="FFFFFF"/>
              </a:highlight>
              <a:latin typeface="Georgia"/>
              <a:ea typeface="Georgia"/>
              <a:cs typeface="Georgia"/>
              <a:sym typeface="Georgia"/>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2"/>
          <p:cNvSpPr txBox="1"/>
          <p:nvPr>
            <p:ph type="ctrTitle"/>
          </p:nvPr>
        </p:nvSpPr>
        <p:spPr>
          <a:xfrm>
            <a:off x="311701" y="469450"/>
            <a:ext cx="4710300" cy="965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ru"/>
              <a:t>Практика</a:t>
            </a:r>
            <a:endParaRPr/>
          </a:p>
        </p:txBody>
      </p:sp>
      <p:sp>
        <p:nvSpPr>
          <p:cNvPr id="349" name="Google Shape;349;p5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55000" lnSpcReduction="20000"/>
          </a:bodyPr>
          <a:lstStyle/>
          <a:p>
            <a:pPr indent="0" lvl="0" marL="0" rtl="0" algn="ctr">
              <a:spcBef>
                <a:spcPts val="0"/>
              </a:spcBef>
              <a:spcAft>
                <a:spcPts val="0"/>
              </a:spcAft>
              <a:buNone/>
            </a:pPr>
            <a:r>
              <a:rPr lang="ru" u="sng">
                <a:solidFill>
                  <a:schemeClr val="hlink"/>
                </a:solidFill>
                <a:hlinkClick r:id="rId3"/>
              </a:rPr>
              <a:t>https://coderun.yandex.ru/problem/coefficients-restoration</a:t>
            </a:r>
            <a:endParaRPr/>
          </a:p>
          <a:p>
            <a:pPr indent="0" lvl="0" marL="0" rtl="0" algn="ctr">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53"/>
          <p:cNvSpPr txBox="1"/>
          <p:nvPr>
            <p:ph type="ctrTitle"/>
          </p:nvPr>
        </p:nvSpPr>
        <p:spPr>
          <a:xfrm>
            <a:off x="141426" y="253775"/>
            <a:ext cx="7721700" cy="1043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ru"/>
              <a:t>Пишите обратную связь</a:t>
            </a:r>
            <a:endParaRPr/>
          </a:p>
        </p:txBody>
      </p:sp>
      <p:pic>
        <p:nvPicPr>
          <p:cNvPr id="355" name="Google Shape;355;p53" title="qr.png"/>
          <p:cNvPicPr preferRelativeResize="0"/>
          <p:nvPr/>
        </p:nvPicPr>
        <p:blipFill>
          <a:blip r:embed="rId3">
            <a:alphaModFix/>
          </a:blip>
          <a:stretch>
            <a:fillRect/>
          </a:stretch>
        </p:blipFill>
        <p:spPr>
          <a:xfrm>
            <a:off x="2652075" y="1322375"/>
            <a:ext cx="3480550" cy="34805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